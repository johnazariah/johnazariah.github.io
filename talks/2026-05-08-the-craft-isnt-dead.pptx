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Several thousand lines of responsibility</a:t>
            </a:r>
          </a:p>
          <a:p/>
          <a:p>
            <a:r>
              <a:t>TIME: 00:00–03:00 | 3 minutes</a:t>
            </a:r>
          </a:p>
          <a:p/>
          <a:p>
            <a:r>
              <a:t>- Most of us already use AI. Grant its usefulness; this isn't a case for stopping.</a:t>
            </a:r>
          </a:p>
          <a:p>
            <a:r>
              <a:t>- Sometimes we describe an idea and acquire “several thousand lines of responsibility”.</a:t>
            </a:r>
          </a:p>
          <a:p>
            <a:r>
              <a:t>- Ask: if implementation takes minutes, what are our skill and experience worth?</a:t>
            </a:r>
          </a:p>
          <a:p>
            <a:r>
              <a:t>- No promise that humans are uniquely special or that expertise guarantees job security.</a:t>
            </a:r>
          </a:p>
          <a:p>
            <a:r>
              <a:t>- Focus on understanding that changes the result: what we notice, make explicit, and need to see before trusting it.</a:t>
            </a:r>
          </a:p>
          <a:p/>
          <a:p>
            <a:r>
              <a:t>DELIVERY: Pause after the central question. No adoption poll or celebrity quotes.</a:t>
            </a:r>
          </a:p>
          <a:p/>
          <a:p>
            <a:r>
              <a:t>TRANSITION: “Here is a method that looks perfectly familiar. Let's make one thing go wrong.”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 The payment succeeded. What failed?</a:t>
            </a:r>
          </a:p>
          <a:p/>
          <a:p>
            <a:r>
              <a:t>TIME: 03:00–06:00 | 3 minutes</a:t>
            </a:r>
          </a:p>
          <a:p/>
          <a:p>
            <a:r>
              <a:t>- Walk through stock → price → charge → reserve → confirmation.</a:t>
            </a:r>
          </a:p>
          <a:p>
            <a:r>
              <a:t>- Point to Charge, then Reserve. The charge succeeds; reservation fails. What happened to the order?</a:t>
            </a:r>
          </a:p>
          <a:p>
            <a:r>
              <a:t>- The customer has paid. Returning “failed” doesn't undo that.</a:t>
            </a:r>
          </a:p>
          <a:p>
            <a:r>
              <a:t>- Refund, retry, manual attention? What survives a process crash?</a:t>
            </a:r>
          </a:p>
          <a:p>
            <a:r>
              <a:t>- A payment timeout may mean we failed to hear about success—not that payment failed.</a:t>
            </a:r>
          </a:p>
          <a:p>
            <a:r>
              <a:t>- Moving reservation earlier raises holds and expiry questions; it isn't a universal fix.</a:t>
            </a:r>
          </a:p>
          <a:p>
            <a:r>
              <a:t>- AI can identify these risks too. A suggestion doesn't establish the provider's guarantees.</a:t>
            </a:r>
          </a:p>
          <a:p/>
          <a:p>
            <a:r>
              <a:t>DELIVERY: Allow about 30 seconds to read the code; take one brief response. Acknowledge the stock race. Don't design a complete saga.</a:t>
            </a:r>
          </a:p>
          <a:p/>
          <a:p>
            <a:r>
              <a:t>TRANSITION: “So what, precisely, did the experienced engineer contribute?”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3. What experience notices</a:t>
            </a:r>
          </a:p>
          <a:p/>
          <a:p>
            <a:r>
              <a:t>TIME: 06:00–08:00 | 2 minutes</a:t>
            </a:r>
          </a:p>
          <a:p/>
          <a:p>
            <a:r>
              <a:t>- Experience helps select consequential questions, not just list everything that could fail.</a:t>
            </a:r>
          </a:p>
          <a:p>
            <a:r>
              <a:t>- Keep the payment-key example: preserve one logical attempt's key across retries.</a:t>
            </a:r>
          </a:p>
          <a:p>
            <a:r>
              <a:t>- The key works only under the provider's actual guarantees.</a:t>
            </a:r>
          </a:p>
          <a:p>
            <a:r>
              <a:t>- Move that knowledge into the request model, adapter contract, and integration checks—not just a review comment.</a:t>
            </a:r>
          </a:p>
          <a:p>
            <a:r>
              <a:t>- Now the knowledge survives your holiday and the next generated change.</a:t>
            </a:r>
          </a:p>
          <a:p>
            <a:r>
              <a:t>- AI can help implement and challenge it. “I've always done it this way” isn't evidence either.</a:t>
            </a:r>
          </a:p>
          <a:p/>
          <a:p>
            <a:r>
              <a:t>DELIVERY: Don't read every table cell. This is a shortened section; retain the concrete example.</a:t>
            </a:r>
          </a:p>
          <a:p/>
          <a:p>
            <a:r>
              <a:t>TRANSITION: “To make that idea visible, I need a much less expensive customer.”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 A brief frog</a:t>
            </a:r>
          </a:p>
          <a:p/>
          <a:p>
            <a:r>
              <a:t>TIME: 08:00–10:00 | 2 minutes</a:t>
            </a:r>
          </a:p>
          <a:p/>
          <a:p>
            <a:r>
              <a:t>- Jump, croak, jump, eat a fly. One sequence, different interpretations.</a:t>
            </a:r>
          </a:p>
          <a:p>
            <a:r>
              <a:t>- Narrative describes the actions; simulation changes the frog's state.</a:t>
            </a:r>
          </a:p>
          <a:p>
            <a:r>
              <a:t>- The interpreter also supplies how results combine: text accumulation isn't state composition.</a:t>
            </a:r>
          </a:p>
          <a:p>
            <a:r>
              <a:t>- We don't copy the adventure to obtain another interpretation.</a:t>
            </a:r>
          </a:p>
          <a:p>
            <a:r>
              <a:t>- This is the intuition behind tagless-final. DI is a familiar starting point, not an enemy.</a:t>
            </a:r>
          </a:p>
          <a:p>
            <a:r>
              <a:t>- The frog is deliberately simple. A payment needs data from an earlier operation.</a:t>
            </a:r>
          </a:p>
          <a:p/>
          <a:p>
            <a:r>
              <a:t>DELIVERY: DSL sketch; builder omitted. No implementation detour.</a:t>
            </a:r>
          </a:p>
          <a:p/>
          <a:p>
            <a:r>
              <a:t>TRANSITION: “The frog doesn't have a payment gateway. Let's put the data back.”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 The frog doesn't have a payment gateway</a:t>
            </a:r>
          </a:p>
          <a:p/>
          <a:p>
            <a:r>
              <a:t>TIME: 10:00–13:00 | 3 minutes</a:t>
            </a:r>
          </a:p>
          <a:p/>
          <a:p>
            <a:r>
              <a:t>- Pricing produces a price result; charging consumes a payment request.</a:t>
            </a:r>
          </a:p>
          <a:p>
            <a:r>
              <a:t>- Selecting the total and building that request are pure data transformations, not external operations.</a:t>
            </a:r>
          </a:p>
          <a:p>
            <a:r>
              <a:t>- Sequencing makes an effectful result available to the next computation.</a:t>
            </a:r>
          </a:p>
          <a:p>
            <a:r>
              <a:t>- Connect to familiar await/query syntax. “Bind” names the general sequencing operation here; it isn't a membership test.</a:t>
            </a:r>
          </a:p>
          <a:p>
            <a:r>
              <a:t>- Keep domain vocabulary, pure transformations, and sequencing distinct.</a:t>
            </a:r>
          </a:p>
          <a:p>
            <a:r>
              <a:t>- A dry run still needs coherent results for later decisions. It must model them or stop explicitly.</a:t>
            </a:r>
          </a:p>
          <a:p/>
          <a:p>
            <a:r>
              <a:t>DELIVERY: Follow the diagram left to right. Don't imply we can directly unwrap an asynchronous result.</a:t>
            </a:r>
          </a:p>
          <a:p/>
          <a:p>
            <a:r>
              <a:t>TRANSITION: “What do we get for doing that work?”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6. Write the decision once</a:t>
            </a:r>
          </a:p>
          <a:p/>
          <a:p>
            <a:r>
              <a:t>TIME: 13:00–16:00 | 3 minutes</a:t>
            </a:r>
          </a:p>
          <a:p/>
          <a:p>
            <a:r>
              <a:t>- Read K&lt;F, A&gt; as “an A produced in interpretation F”.</a:t>
            </a:r>
          </a:p>
          <a:p>
            <a:r>
              <a:t>- Follow price into ChargePayment. The workflow stays unchanged.</a:t>
            </a:r>
          </a:p>
          <a:p>
            <a:r>
              <a:t>- Id returns a value; Trace also records operations.</a:t>
            </a:r>
          </a:p>
          <a:p>
            <a:r>
              <a:t>- Important limitation: this tiny example doesn't reject unavailable stock. Calling CheckStock is not the same as using its result correctly.</a:t>
            </a:r>
          </a:p>
          <a:p>
            <a:r>
              <a:t>- Benefits: isolated decisions, traces, and a bounded interface for another interpreter.</a:t>
            </a:r>
          </a:p>
          <a:p>
            <a:r>
              <a:t>- Costs: design and maintain the vocabulary, result meanings, and interpretations.</a:t>
            </a:r>
          </a:p>
          <a:p>
            <a:r>
              <a:t>- A disposable script may not need this abstraction. Choose it for a concrete benefit.</a:t>
            </a:r>
          </a:p>
          <a:p/>
          <a:p>
            <a:r>
              <a:t>DELIVERY: Prepared code walkthrough, not a live execution claim. The sample does not implement the free/tagless round-trip or production payment recovery.</a:t>
            </a:r>
          </a:p>
          <a:p/>
          <a:p>
            <a:r>
              <a:t>TRANSITION: “One of those interpretations can build a program as data. But is it really the same program?”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7. Two representations. What survives the journey?</a:t>
            </a:r>
          </a:p>
          <a:p/>
          <a:p>
            <a:r>
              <a:t>TIME: 16:00–18:00 | 2 minutes</a:t>
            </a:r>
          </a:p>
          <a:p/>
          <a:p>
            <a:r>
              <a:t>- Explicit syntax describes the program as data; a tagless program uses an interpreter's operations.</a:t>
            </a:r>
          </a:p>
          <a:p>
            <a:r>
              <a:t>- Interpret syntax to go one way; choose a syntax-building interpretation to recover a representation.</a:t>
            </a:r>
          </a:p>
          <a:p>
            <a:r>
              <a:t>- Condition: the program must behave uniformly across interpretations, not secretly recognise a particular interpreter.</a:t>
            </a:r>
          </a:p>
          <a:p>
            <a:r>
              <a:t>- A generic C#/TypeScript type parameter alone doesn't establish that.</a:t>
            </a:r>
          </a:p>
          <a:p>
            <a:r>
              <a:t>- Recovery is up to the stated equality: equivalent meaning need not mean identical original syntax.</a:t>
            </a:r>
          </a:p>
          <a:p>
            <a:r>
              <a:t>- Faithfully translate a program that charges twice and you still have a program that charges twice.</a:t>
            </a:r>
          </a:p>
          <a:p/>
          <a:p>
            <a:r>
              <a:t>DELIVERY: Walk both arrows, briefly. No proof. Leave normalisation machinery and hidden-continuation details to Q&amp;A. Don't identify tagless-final with a final coalgebra.</a:t>
            </a:r>
          </a:p>
          <a:p/>
          <a:p>
            <a:r>
              <a:t>TRANSITION: “I didn't make all those distinctions carefully enough when I first wrote about this.”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8. My explanation needed debugging too</a:t>
            </a:r>
          </a:p>
          <a:p/>
          <a:p>
            <a:r>
              <a:t>TIME: 18:00–20:00 | 2 minutes</a:t>
            </a:r>
          </a:p>
          <a:p/>
          <a:p>
            <a:r>
              <a:t>- I wrote about intent and process; Mitchell Wand asked questions that made the account more precise.</a:t>
            </a:r>
          </a:p>
          <a:p>
            <a:r>
              <a:t>- I had put too much weight on “the structure guarantees it”.</a:t>
            </a:r>
          </a:p>
          <a:p>
            <a:r>
              <a:t>- Which structure? Under which assumptions? Guarantees what?</a:t>
            </a:r>
          </a:p>
          <a:p>
            <a:r>
              <a:t>- Correcting the explanation preserved the useful idea while narrowing claims about inspection and optimisation.</a:t>
            </a:r>
          </a:p>
          <a:p>
            <a:r>
              <a:t>- Separate “compiles”, “passes these tests”, “preserves this property”, and “fits the domain”.</a:t>
            </a:r>
          </a:p>
          <a:p>
            <a:r>
              <a:t>- AI can help challenge an explanation. Confidence still needs to match the evidence.</a:t>
            </a:r>
          </a:p>
          <a:p/>
          <a:p>
            <a:r>
              <a:t>DELIVERY: Own the correction. Keep the correspondence story short. No private quotations, novelty claim, or claimed endorsement.</a:t>
            </a:r>
          </a:p>
          <a:p/>
          <a:p>
            <a:r>
              <a:t>TRANSITION: “Let's put that distinction to work on an optimisation an agent might reasonably suggest.”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9. May we remove the second read?</a:t>
            </a:r>
          </a:p>
          <a:p/>
          <a:p>
            <a:r>
              <a:t>TIME: 20:00–23:00 | 3 minutes</a:t>
            </a:r>
          </a:p>
          <a:p/>
          <a:p>
            <a:r>
              <a:t>- Two calls, same arguments: reuse the first result. A plausible proposal.</a:t>
            </a:r>
          </a:p>
          <a:p>
            <a:r>
              <a:t>- A stub always returns twelve; both versions agree in that case.</a:t>
            </a:r>
          </a:p>
          <a:p>
            <a:r>
              <a:t>- Live stock changes: twelve, then eleven. Reuse changes what the program observes.</a:t>
            </a:r>
          </a:p>
          <a:p>
            <a:r>
              <a:t>- Other observations may matter too: failure, audit events, quotas.</a:t>
            </a:r>
          </a:p>
          <a:p>
            <a:r>
              <a:t>- One immutable snapshot gives a different argument—but only under the stated observable-behaviour contract.</a:t>
            </a:r>
          </a:p>
          <a:p>
            <a:r>
              <a:t>- The service contract supplies the condition, not the operation's name or the monad laws.</a:t>
            </a:r>
          </a:p>
          <a:p>
            <a:r>
              <a:t>- AI can propose the counterexample too. Use it; don't accept an assumed snapshot we don't have.</a:t>
            </a:r>
          </a:p>
          <a:p/>
          <a:p>
            <a:r>
              <a:t>DELIVERY: Ask “What would make this safe?” Take one answer, then contrast the contracts. Illustrative transformation, not a completed optimisation demo.</a:t>
            </a:r>
          </a:p>
          <a:p/>
          <a:p>
            <a:r>
              <a:t>TRANSITION: “Now we can give the agent a much better task than ‘optimise this service’.”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10. Give the agent something worth preserving</a:t>
            </a:r>
          </a:p>
          <a:p/>
          <a:p>
            <a:r>
              <a:t>TIME: 23:00–26:00 | 3 minutes</a:t>
            </a:r>
          </a:p>
          <a:p/>
          <a:p>
            <a:r>
              <a:t>- Goal: reduce repeated stock lookups within one order evaluation.</a:t>
            </a:r>
          </a:p>
          <a:p>
            <a:r>
              <a:t>- Boundary: one explicit immutable snapshot; no cross-snapshot reuse or payment-path changes.</a:t>
            </a:r>
          </a:p>
          <a:p>
            <a:r>
              <a:t>- Evidence: live-read counterexample, same-snapshot reuse, cross-snapshot separation, relevant outcomes and traces.</a:t>
            </a:r>
          </a:p>
          <a:p>
            <a:r>
              <a:t>- Unknowns: identify guarantees the repository cannot establish.</a:t>
            </a:r>
          </a:p>
          <a:p>
            <a:r>
              <a:t>- If no snapshot abstraction exists, report it. Renaming mutable data doesn't create one.</a:t>
            </a:r>
          </a:p>
          <a:p>
            <a:r>
              <a:t>- Leave implementation choices open, but keep the acceptance conditions.</a:t>
            </a:r>
          </a:p>
          <a:p>
            <a:r>
              <a:t>- Put discoveries into APIs, tests, and a decision record so the next engineer or agent inherits them.</a:t>
            </a:r>
          </a:p>
          <a:p/>
          <a:p>
            <a:r>
              <a:t>DELIVERY: Give the room time to read the brief. At most one brief audience response. This is a proposed task, not a report of an agent run.</a:t>
            </a:r>
          </a:p>
          <a:p/>
          <a:p>
            <a:r>
              <a:t>TRANSITION: “How much of that process do we need every time?”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11. Delegate according to consequence</a:t>
            </a:r>
          </a:p>
          <a:p/>
          <a:p>
            <a:r>
              <a:t>TIME: 26:00–28:00 | 2 minutes</a:t>
            </a:r>
          </a:p>
          <a:p/>
          <a:p>
            <a:r>
              <a:t>- Exploration with synthetic data and no production access can be the right approach.</a:t>
            </a:r>
          </a:p>
          <a:p>
            <a:r>
              <a:t>- “Temporary” isn't a risk classification: a one-off migration can damage production exactly once.</a:t>
            </a:r>
          </a:p>
          <a:p>
            <a:r>
              <a:t>- Choose autonomy by what the code can affect, the cost of failure, and our ability to observe and recover.</a:t>
            </a:r>
          </a:p>
          <a:p>
            <a:r>
              <a:t>- Higher consequences need narrower boundaries and stronger evidence—not simply more ceremony.</a:t>
            </a:r>
          </a:p>
          <a:p>
            <a:r>
              <a:t>- Several agents sharing one mistaken assumption don't supply independent assurance.</a:t>
            </a:r>
          </a:p>
          <a:p>
            <a:r>
              <a:t>- Vibe coding and structured development needn't be rival identities. Recognise when an experiment becomes consequential.</a:t>
            </a:r>
          </a:p>
          <a:p/>
          <a:p>
            <a:r>
              <a:t>DELIVERY: Keep the migration example; shorten the general process discussion.</a:t>
            </a:r>
          </a:p>
          <a:p/>
          <a:p>
            <a:r>
              <a:t>TRANSITION: “So if you're deciding where to invest your own learning, where does that leave us?”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12. Keep learning where the mistakes are expensive</a:t>
            </a:r>
          </a:p>
          <a:p/>
          <a:p>
            <a:r>
              <a:t>TIME: 28:00–31:00 | 3 minutes</a:t>
            </a:r>
          </a:p>
          <a:p/>
          <a:p>
            <a:r>
              <a:t>- Learn how programs behave: follow state, effects, transactions, retries, and failures.</a:t>
            </a:r>
          </a:p>
          <a:p>
            <a:r>
              <a:t>- Understand what a type or test rules out—and what it doesn't.</a:t>
            </a:r>
          </a:p>
          <a:p>
            <a:r>
              <a:t>- Seek a counterexample to your belief rather than just more tests confirming it.</a:t>
            </a:r>
          </a:p>
          <a:p>
            <a:r>
              <a:t>- Learn the domain: accepted orders, cancellation, prices, genuinely reversible actions.</a:t>
            </a:r>
          </a:p>
          <a:p>
            <a:r>
              <a:t>- Use AI to explain and compare; follow its claims into the implementation.</a:t>
            </a:r>
          </a:p>
          <a:p>
            <a:r>
              <a:t>- Preserve feedback: predict before running, trace before accepting a patch, sometimes build the small version yourself.</a:t>
            </a:r>
          </a:p>
          <a:p>
            <a:r>
              <a:t>- Give juniors bounded ownership and consequences to investigate, not just generated code to approve.</a:t>
            </a:r>
          </a:p>
          <a:p>
            <a:r>
              <a:t>- Nobody needs a DSL for everything. A pure function, useful type, and boundary test may be enough.</a:t>
            </a:r>
          </a:p>
          <a:p/>
          <a:p>
            <a:r>
              <a:t>DELIVERY: Start the closing slide at minute 31. If behind, cut elaboration here rather than rushing the close.</a:t>
            </a:r>
          </a:p>
          <a:p/>
          <a:p>
            <a:r>
              <a:t>TRANSITION: “Let's return to the question we started with.”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13. What your experience buys</a:t>
            </a:r>
          </a:p>
          <a:p/>
          <a:p>
            <a:r>
              <a:t>TIME: 31:00–33:00 | 2 minutes; two minutes of slot headroom</a:t>
            </a:r>
          </a:p>
          <a:p/>
          <a:p>
            <a:r>
              <a:t>- Return to the opening: if AI writes the method, what did learning buy us?</a:t>
            </a:r>
          </a:p>
          <a:p>
            <a:r>
              <a:t>- The ability to reason about results, effects, failures, and evidence applies to code we didn't type.</a:t>
            </a:r>
          </a:p>
          <a:p>
            <a:r>
              <a:t>- Use it to choose representations, set agent contracts, recognise assumptions, and preserve lessons from failures.</a:t>
            </a:r>
          </a:p>
          <a:p>
            <a:r>
              <a:t>- Some old work will disappear. Don't defend it merely because it took years to learn; don't promise job insulation.</a:t>
            </a:r>
          </a:p>
          <a:p>
            <a:r>
              <a:t>- My own explanation needed correction. Expertise includes remaining correctable.</a:t>
            </a:r>
          </a:p>
          <a:p>
            <a:r>
              <a:t>- Use AI, explore with it, and learn with it. Keep developing the understanding needed to judge the result.</a:t>
            </a:r>
          </a:p>
          <a:p/>
          <a:p>
            <a:r>
              <a:t>CLOSE: “The code may arrive in seconds. Understanding still has to be earned.”</a:t>
            </a:r>
          </a:p>
          <a:p/>
          <a:p>
            <a:r>
              <a:t>DELIVERY: Stop after that line. Leave the slide on screen for Q&amp;A; don't add another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14. Is this just dependency injection?</a:t>
            </a:r>
          </a:p>
          <a:p/>
          <a:p>
            <a:r>
              <a:t>Q&amp;A BACKUP — outside the timed talk</a:t>
            </a:r>
          </a:p>
          <a:p/>
          <a:p>
            <a:r>
              <a:t>- Yes, there is a family resemblance: abstract operations and substitute implementations.</a:t>
            </a:r>
          </a:p>
          <a:p>
            <a:r>
              <a:t>- The extra structure here abstracts how computations compose, not just which service implements each call.</a:t>
            </a:r>
          </a:p>
          <a:p>
            <a:r>
              <a:t>- Different carriers can support traces or syntax-producing interpretations.</a:t>
            </a:r>
          </a:p>
          <a:p>
            <a:r>
              <a:t>- That flexibility costs design and maintenance effort.</a:t>
            </a:r>
          </a:p>
          <a:p>
            <a:r>
              <a:t>- Ordinary DI and pure functions may be sufficient. Mathematical vocabulary should explain a useful distinction, not decide who belongs.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15. What the round-trip does—and does not—say</a:t>
            </a:r>
          </a:p>
          <a:p/>
          <a:p>
            <a:r>
              <a:t>Q&amp;A BACKUP — outside the timed talk</a:t>
            </a:r>
          </a:p>
          <a:p/>
          <a:p>
            <a:r>
              <a:t>- Requires a specified language, models, equality, and uniformity across interpretations.</a:t>
            </a:r>
          </a:p>
          <a:p>
            <a:r>
              <a:t>- Relates a program's representations; it does not establish business correctness or arbitrary rewrite safety.</a:t>
            </a:r>
          </a:p>
          <a:p>
            <a:r>
              <a:t>- The request is an open context, not just one sample input.</a:t>
            </a:r>
          </a:p>
          <a:p>
            <a:r>
              <a:t>- Equality is at the stated equivalence-class level; normal-form recovery needs the appropriate additional assumptions.</a:t>
            </a:r>
          </a:p>
          <a:p>
            <a:r>
              <a:t>- Host-language generics alone don't enforce the whole condition.</a:t>
            </a:r>
          </a:p>
          <a:p>
            <a:r>
              <a:t>- Host-language continuations can hide future structure. A free-monad encoding does not automatically expose every path.</a:t>
            </a:r>
          </a:p>
          <a:p>
            <a:r>
              <a:t>- The small C# example is a composition demonstration, not an implementation proof of this theorem.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16. When generation outruns review</a:t>
            </a:r>
          </a:p>
          <a:p/>
          <a:p>
            <a:r>
              <a:t>Q&amp;A BACKUP — outside the timed talk</a:t>
            </a:r>
          </a:p>
          <a:p/>
          <a:p>
            <a:r>
              <a:t>- AI can find architectural risks and counterexamples too. That's a reason to use it.</a:t>
            </a:r>
          </a:p>
          <a:p>
            <a:r>
              <a:t>- Don't make an unbounded code dump the unit of trust. Ask for smaller changes with clear interfaces.</a:t>
            </a:r>
          </a:p>
          <a:p>
            <a:r>
              <a:t>- Automate the properties checks can establish; focus review on consequential assumptions.</a:t>
            </a:r>
          </a:p>
          <a:p>
            <a:r>
              <a:t>- “Payments are idempotent” in a specification doesn't make the provider honour it.</a:t>
            </a:r>
          </a:p>
          <a:p>
            <a:r>
              <a:t>- Agreement among agents is weaker than genuinely independent evidence if they share an assumption.</a:t>
            </a:r>
          </a:p>
          <a:p>
            <a:r>
              <a:t>- If generation exceeds our ability to establish confidence, generate less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17. Help colleagues develop judgement</a:t>
            </a:r>
          </a:p>
          <a:p/>
          <a:p>
            <a:r>
              <a:t>Q&amp;A BACKUP — outside the timed talk</a:t>
            </a:r>
          </a:p>
          <a:p/>
          <a:p>
            <a:r>
              <a:t>- Predict behaviour before running code; investigate the failure before accepting the patch.</a:t>
            </a:r>
          </a:p>
          <a:p>
            <a:r>
              <a:t>- Ask AI for competing designs and examine their assumptions.</a:t>
            </a:r>
          </a:p>
          <a:p>
            <a:r>
              <a:t>- Give juniors manageable ownership, real feedback, and room to learn from consequences.</a:t>
            </a:r>
          </a:p>
          <a:p>
            <a:r>
              <a:t>- Don't replace apprenticeship with an approval queue.</a:t>
            </a:r>
          </a:p>
          <a:p>
            <a:r>
              <a:t>- Security, operations, and performance need their own evidence: trusted inputs, permissions, load assumptions, failure signals.</a:t>
            </a:r>
          </a:p>
          <a:p>
            <a:r>
              <a:t>- This workflow illustrates a habit of reasoning; it isn't a substitute for those disciplines.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18. Further reading</a:t>
            </a:r>
          </a:p>
          <a:p/>
          <a:p>
            <a:r>
              <a:t>Q&amp;A BACKUP — outside the timed talk</a:t>
            </a:r>
          </a:p>
          <a:p/>
          <a:p>
            <a:r>
              <a:t>- Froggy introduces multiple interpretations; the algebra article gives the original C# framing.</a:t>
            </a:r>
          </a:p>
          <a:p>
            <a:r>
              <a:t>- The Wand follow-up records early corrections, not the entire later technical account.</a:t>
            </a:r>
          </a:p>
          <a:p>
            <a:r>
              <a:t>- Earlier public material contains broader claims than this talk. Don't present it as blanket authority for every current claim.</a:t>
            </a:r>
          </a:p>
          <a:p>
            <a:r>
              <a:t>- No novelty claim or blanket endorsement by Mitch. His questions and review sharpened my understanding.</a:t>
            </a:r>
          </a:p>
          <a:p>
            <a:r>
              <a:t>- Private correspondence, proof notes, and contributed code are not public attachments.</a:t>
            </a:r>
          </a:p>
          <a:p>
            <a:r>
              <a:t>- Point people to the linked public reading; distinguish it from unpublished working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johnazariah.github.io/2025/12/12/tagless-final-01-froggy-tree-house.html" TargetMode="External"/><Relationship Id="rId4" Type="http://schemas.openxmlformats.org/officeDocument/2006/relationships/hyperlink" Target="https://johnazariah.github.io/2026/03/05/02-the-algebra-of-intent.html" TargetMode="External"/><Relationship Id="rId5" Type="http://schemas.openxmlformats.org/officeDocument/2006/relationships/hyperlink" Target="https://johnazariah.github.io/2026/05/28/what-mitchell-wand-taught-me-about-intent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8952"/>
            <a:ext cx="10972800" cy="1691640"/>
          </a:xfrm>
        </p:spPr>
        <p:txBody>
          <a:bodyPr wrap="square" anchor="t" lIns="0" rIns="0">
            <a:noAutofit/>
          </a:bodyPr>
          <a:lstStyle/>
          <a:p>
            <a:pPr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chemeClr val="tx1"/>
                </a:solidFill>
              </a:defRPr>
            </a:pPr>
            <a:r>
              <a:t>Why Learning to Code Properly</a:t>
            </a:r>
          </a:p>
          <a:p>
            <a:pPr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chemeClr val="tx1"/>
                </a:solidFill>
              </a:defRPr>
            </a:pPr>
            <a:r>
              <a:t>Still Matters in the Age of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800"/>
              </a:spcAft>
              <a:defRPr sz="1000" b="0">
                <a:solidFill>
                  <a:schemeClr val="tx1"/>
                </a:solidFill>
              </a:defRPr>
            </a:pPr>
            <a:r>
              <a:t>John Azariah  |  AI &amp; software craft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594360" cy="27432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800"/>
              </a:spcAft>
              <a:defRPr sz="1200" b="0">
                <a:solidFill>
                  <a:schemeClr val="tx1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816352"/>
            <a:ext cx="10881360" cy="91440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800"/>
              </a:spcAft>
              <a:defRPr sz="3200" b="1">
                <a:solidFill>
                  <a:schemeClr val="accent1"/>
                </a:solidFill>
              </a:defRPr>
            </a:pPr>
            <a:r>
              <a:t>What does our experience buy us now?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846320"/>
            <a:ext cx="10058400" cy="45720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645"/>
              </a:lnSpc>
              <a:spcBef>
                <a:spcPts val="0"/>
              </a:spcBef>
              <a:spcAft>
                <a:spcPts val="800"/>
              </a:spcAft>
              <a:defRPr sz="2300" b="0">
                <a:solidFill>
                  <a:schemeClr val="tx1"/>
                </a:solidFill>
              </a:defRPr>
            </a:pPr>
            <a:r>
              <a:t>John Azariah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041648"/>
            <a:ext cx="10881360" cy="54864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760"/>
              </a:lnSpc>
              <a:spcBef>
                <a:spcPts val="0"/>
              </a:spcBef>
              <a:spcAft>
                <a:spcPts val="800"/>
              </a:spcAft>
              <a:defRPr sz="2400" b="0">
                <a:solidFill>
                  <a:schemeClr val="tx1"/>
                </a:solidFill>
              </a:defRPr>
            </a:pPr>
            <a:r>
              <a:t>Several thousand lines of responsibility.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20040"/>
            <a:ext cx="10972800" cy="713232"/>
          </a:xfrm>
        </p:spPr>
        <p:txBody>
          <a:bodyPr wrap="square" anchor="t" lIns="0" rIns="0">
            <a:noAutofit/>
          </a:bodyPr>
          <a:lstStyle/>
          <a:p>
            <a:pPr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</a:defRPr>
            </a:pPr>
            <a:r>
              <a:t>The payment succeeded. What failed?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800"/>
              </a:spcAft>
              <a:defRPr sz="1000" b="0">
                <a:solidFill>
                  <a:schemeClr val="tx1"/>
                </a:solidFill>
              </a:defRPr>
            </a:pPr>
            <a:r>
              <a:t>John Azariah  |  AI &amp; software craft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594360" cy="27432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800"/>
              </a:spcAft>
              <a:defRPr sz="1200" b="0">
                <a:solidFill>
                  <a:schemeClr val="tx1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800"/>
              </a:spcAft>
              <a:defRPr sz="1800" b="0">
                <a:solidFill>
                  <a:schemeClr val="accent1"/>
                </a:solidFill>
              </a:defRPr>
            </a:pPr>
            <a:r>
              <a:t>A familiar workflow. An ambiguous outcome.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19072"/>
            <a:ext cx="10972800" cy="3767328"/>
          </a:xfrm>
          <a:prstGeom prst="roundRect">
            <a:avLst>
              <a:gd name="adj" fmla="val 6000"/>
            </a:avLst>
          </a:prstGeom>
          <a:solidFill>
            <a:schemeClr val="accent1">
              <a:lumMod val="4000"/>
              <a:lumOff val="9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10607040" cy="3538728"/>
          </a:xfrm>
          <a:prstGeom prst="rect">
            <a:avLst/>
          </a:prstGeom>
          <a:noFill/>
        </p:spPr>
        <p:txBody>
          <a:bodyPr wrap="none" anchor="t" lIns="22860" rIns="22860" tIns="22860" bIns="22860">
            <a:noAutofit/>
          </a:bodyPr>
          <a:lstStyle/>
          <a:p>
            <a:pPr algn="l">
              <a:lnSpc>
                <a:spcPts val="218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chemeClr val="tx1"/>
                </a:solidFill>
                <a:latin typeface="Consolas"/>
              </a:defRPr>
            </a:pPr>
            <a:r>
              <a:t>var stock = await inventory.CheckStock(request.Items);</a:t>
            </a:r>
          </a:p>
          <a:p>
            <a:pPr algn="l">
              <a:lnSpc>
                <a:spcPts val="218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chemeClr val="tx1"/>
                </a:solidFill>
                <a:latin typeface="Consolas"/>
              </a:defRPr>
            </a:pPr>
            <a:r>
              <a:t>if (!stock.IsAvailable)</a:t>
            </a:r>
          </a:p>
          <a:p>
            <a:pPr algn="l">
              <a:lnSpc>
                <a:spcPts val="218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chemeClr val="tx1"/>
                </a:solidFill>
                <a:latin typeface="Consolas"/>
              </a:defRPr>
            </a:pPr>
            <a:r>
              <a:t>    return OrderResult.Failed("Out of stock");</a:t>
            </a:r>
          </a:p>
          <a:p>
            <a:pPr algn="l">
              <a:lnSpc>
                <a:spcPts val="218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chemeClr val="tx1"/>
                </a:solidFill>
                <a:latin typeface="Consolas"/>
              </a:defRPr>
            </a:pPr>
          </a:p>
          <a:p>
            <a:pPr algn="l">
              <a:lnSpc>
                <a:spcPts val="218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chemeClr val="tx1"/>
                </a:solidFill>
                <a:latin typeface="Consolas"/>
              </a:defRPr>
            </a:pPr>
            <a:r>
              <a:t>var price = pricing.Calculate(request.Items, request.Coupon);</a:t>
            </a:r>
          </a:p>
          <a:p>
            <a:pPr algn="l">
              <a:lnSpc>
                <a:spcPts val="218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chemeClr val="accent1"/>
                </a:solidFill>
                <a:latin typeface="Consolas"/>
              </a:defRPr>
            </a:pPr>
            <a:r>
              <a:t>var charge = await payment.Charge(request.PaymentMethod, price.Total);</a:t>
            </a:r>
          </a:p>
          <a:p>
            <a:pPr algn="l">
              <a:lnSpc>
                <a:spcPts val="218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chemeClr val="tx1"/>
                </a:solidFill>
                <a:latin typeface="Consolas"/>
              </a:defRPr>
            </a:pPr>
            <a:r>
              <a:t>if (!charge.Succeeded)</a:t>
            </a:r>
          </a:p>
          <a:p>
            <a:pPr algn="l">
              <a:lnSpc>
                <a:spcPts val="218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chemeClr val="tx1"/>
                </a:solidFill>
                <a:latin typeface="Consolas"/>
              </a:defRPr>
            </a:pPr>
            <a:r>
              <a:t>    return OrderResult.Failed("Payment failed");</a:t>
            </a:r>
          </a:p>
          <a:p>
            <a:pPr algn="l">
              <a:lnSpc>
                <a:spcPts val="218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chemeClr val="tx1"/>
                </a:solidFill>
                <a:latin typeface="Consolas"/>
              </a:defRPr>
            </a:pPr>
          </a:p>
          <a:p>
            <a:pPr algn="l">
              <a:lnSpc>
                <a:spcPts val="218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chemeClr val="accent1"/>
                </a:solidFill>
                <a:latin typeface="Consolas"/>
              </a:defRPr>
            </a:pPr>
            <a:r>
              <a:t>await inventory.Reserve(request.Items);</a:t>
            </a:r>
          </a:p>
          <a:p>
            <a:pPr algn="l">
              <a:lnSpc>
                <a:spcPts val="218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chemeClr val="tx1"/>
                </a:solidFill>
                <a:latin typeface="Consolas"/>
              </a:defRPr>
            </a:pPr>
            <a:r>
              <a:t>await email.SendConfirmation(request.Customer, price);</a:t>
            </a:r>
          </a:p>
          <a:p>
            <a:pPr algn="l">
              <a:lnSpc>
                <a:spcPts val="218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chemeClr val="tx1"/>
                </a:solidFill>
                <a:latin typeface="Consolas"/>
              </a:defRPr>
            </a:pPr>
            <a:r>
              <a:t>return OrderResult.Success(charge.TransactionId);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5733288"/>
            <a:ext cx="10972800" cy="603504"/>
          </a:xfrm>
          <a:prstGeom prst="roundRect">
            <a:avLst>
              <a:gd name="adj" fmla="val 6000"/>
            </a:avLst>
          </a:prstGeom>
          <a:solidFill>
            <a:schemeClr val="accent1">
              <a:lumMod val="9000"/>
              <a:lumOff val="91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5824727"/>
            <a:ext cx="10561320" cy="420624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874"/>
              </a:lnSpc>
              <a:spcBef>
                <a:spcPts val="0"/>
              </a:spcBef>
              <a:spcAft>
                <a:spcPts val="800"/>
              </a:spcAft>
              <a:defRPr sz="2500" b="1">
                <a:solidFill>
                  <a:schemeClr val="tx1"/>
                </a:solidFill>
              </a:defRPr>
            </a:pPr>
            <a:r>
              <a:t>A timeout is not proof that the payment failed.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20040"/>
            <a:ext cx="10972800" cy="713232"/>
          </a:xfrm>
        </p:spPr>
        <p:txBody>
          <a:bodyPr wrap="square" anchor="t" lIns="0" rIns="0">
            <a:noAutofit/>
          </a:bodyPr>
          <a:lstStyle/>
          <a:p>
            <a:pPr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</a:defRPr>
            </a:pPr>
            <a:r>
              <a:t>What experience notices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800"/>
              </a:spcAft>
              <a:defRPr sz="1000" b="0">
                <a:solidFill>
                  <a:schemeClr val="tx1"/>
                </a:solidFill>
              </a:defRPr>
            </a:pPr>
            <a:r>
              <a:t>John Azariah  |  AI &amp; software craft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594360" cy="27432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800"/>
              </a:spcAft>
              <a:defRPr sz="1200" b="0">
                <a:solidFill>
                  <a:schemeClr val="tx1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800"/>
              </a:spcAft>
              <a:defRPr sz="1800" b="0">
                <a:solidFill>
                  <a:schemeClr val="accent1"/>
                </a:solidFill>
              </a:defRPr>
            </a:pPr>
            <a:r>
              <a:t>Move knowledge out of a review comment and into the system.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645920"/>
          <a:ext cx="10972799" cy="3547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60"/>
                <a:gridCol w="3749039"/>
                <a:gridCol w="3886200"/>
              </a:tblGrid>
              <a:tr h="621792">
                <a:tc>
                  <a:txBody>
                    <a:bodyPr/>
                    <a:lstStyle/>
                    <a:p>
                      <a:pPr>
                        <a:lnSpc>
                          <a:spcPts val="24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1">
                          <a:solidFill>
                            <a:schemeClr val="bg1"/>
                          </a:solidFill>
                        </a:defRPr>
                      </a:pPr>
                      <a:r>
                        <a:t>Notice</a:t>
                      </a:r>
                    </a:p>
                  </a:txBody>
                  <a:tcPr marL="164592" marR="164592" marT="91440" marB="9144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4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1">
                          <a:solidFill>
                            <a:schemeClr val="bg1"/>
                          </a:solidFill>
                        </a:defRPr>
                      </a:pPr>
                      <a:r>
                        <a:t>Establish</a:t>
                      </a:r>
                    </a:p>
                  </a:txBody>
                  <a:tcPr marL="164592" marR="164592" marT="91440" marB="9144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4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1">
                          <a:solidFill>
                            <a:schemeClr val="bg1"/>
                          </a:solidFill>
                        </a:defRPr>
                      </a:pPr>
                      <a:r>
                        <a:t>Make it survive</a:t>
                      </a:r>
                    </a:p>
                  </a:txBody>
                  <a:tcPr marL="164592" marR="164592" marT="91440" marB="91440" anchor="ctr">
                    <a:solidFill>
                      <a:schemeClr val="accent1"/>
                    </a:solidFill>
                  </a:tcPr>
                </a:tc>
              </a:tr>
              <a:tr h="975360">
                <a:tc>
                  <a:txBody>
                    <a:bodyPr/>
                    <a:lstStyle/>
                    <a:p>
                      <a:pPr>
                        <a:lnSpc>
                          <a:spcPts val="24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>
                          <a:solidFill>
                            <a:schemeClr val="tx1"/>
                          </a:solidFill>
                        </a:defRPr>
                      </a:pPr>
                      <a:r>
                        <a:t>A timeout may hide a charge</a:t>
                      </a:r>
                    </a:p>
                  </a:txBody>
                  <a:tcPr marL="164592" marR="164592" marT="91440" marB="91440" anchor="ctr">
                    <a:solidFill>
                      <a:schemeClr val="accent1">
                        <a:lumMod val="5000"/>
                        <a:lumOff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4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>
                          <a:solidFill>
                            <a:schemeClr val="tx1"/>
                          </a:solidFill>
                        </a:defRPr>
                      </a:pPr>
                      <a:r>
                        <a:t>Provider retry and reconciliation behaviour</a:t>
                      </a:r>
                    </a:p>
                  </a:txBody>
                  <a:tcPr marL="164592" marR="164592" marT="91440" marB="91440" anchor="ctr">
                    <a:solidFill>
                      <a:schemeClr val="accent1">
                        <a:lumMod val="5000"/>
                        <a:lumOff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4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>
                          <a:solidFill>
                            <a:schemeClr val="tx1"/>
                          </a:solidFill>
                        </a:defRPr>
                      </a:pPr>
                      <a:r>
                        <a:t>Adapter contract + integration checks</a:t>
                      </a:r>
                    </a:p>
                  </a:txBody>
                  <a:tcPr marL="164592" marR="164592" marT="91440" marB="91440" anchor="ctr">
                    <a:solidFill>
                      <a:schemeClr val="accent1">
                        <a:lumMod val="5000"/>
                        <a:lumOff val="95000"/>
                      </a:schemeClr>
                    </a:solidFill>
                  </a:tcPr>
                </a:tc>
              </a:tr>
              <a:tr h="975360">
                <a:tc>
                  <a:txBody>
                    <a:bodyPr/>
                    <a:lstStyle/>
                    <a:p>
                      <a:pPr>
                        <a:lnSpc>
                          <a:spcPts val="24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>
                          <a:solidFill>
                            <a:schemeClr val="tx1"/>
                          </a:solidFill>
                        </a:defRPr>
                      </a:pPr>
                      <a:r>
                        <a:t>Stock changes after a lookup</a:t>
                      </a:r>
                    </a:p>
                  </a:txBody>
                  <a:tcPr marL="164592" marR="164592" marT="91440" marB="91440" anchor="ctr">
                    <a:solidFill>
                      <a:schemeClr val="accent1">
                        <a:lumMod val="5000"/>
                        <a:lumOff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4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>
                          <a:solidFill>
                            <a:schemeClr val="tx1"/>
                          </a:solidFill>
                        </a:defRPr>
                      </a:pPr>
                      <a:r>
                        <a:t>Reservation and consistency policy</a:t>
                      </a:r>
                    </a:p>
                  </a:txBody>
                  <a:tcPr marL="164592" marR="164592" marT="91440" marB="91440" anchor="ctr">
                    <a:solidFill>
                      <a:schemeClr val="accent1">
                        <a:lumMod val="5000"/>
                        <a:lumOff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4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>
                          <a:solidFill>
                            <a:schemeClr val="tx1"/>
                          </a:solidFill>
                        </a:defRPr>
                      </a:pPr>
                      <a:r>
                        <a:t>Workflow rules + failure-path tests</a:t>
                      </a:r>
                    </a:p>
                  </a:txBody>
                  <a:tcPr marL="164592" marR="164592" marT="91440" marB="91440" anchor="ctr">
                    <a:solidFill>
                      <a:schemeClr val="accent1">
                        <a:lumMod val="5000"/>
                        <a:lumOff val="95000"/>
                      </a:schemeClr>
                    </a:solidFill>
                  </a:tcPr>
                </a:tc>
              </a:tr>
              <a:tr h="975360">
                <a:tc>
                  <a:txBody>
                    <a:bodyPr/>
                    <a:lstStyle/>
                    <a:p>
                      <a:pPr>
                        <a:lnSpc>
                          <a:spcPts val="24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>
                          <a:solidFill>
                            <a:schemeClr val="tx1"/>
                          </a:solidFill>
                        </a:defRPr>
                      </a:pPr>
                      <a:r>
                        <a:t>Confirmation can fail separately</a:t>
                      </a:r>
                    </a:p>
                  </a:txBody>
                  <a:tcPr marL="164592" marR="164592" marT="91440" marB="91440" anchor="ctr">
                    <a:solidFill>
                      <a:schemeClr val="accent1">
                        <a:lumMod val="5000"/>
                        <a:lumOff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4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>
                          <a:solidFill>
                            <a:schemeClr val="tx1"/>
                          </a:solidFill>
                        </a:defRPr>
                      </a:pPr>
                      <a:r>
                        <a:t>Whether the order stays successful</a:t>
                      </a:r>
                    </a:p>
                  </a:txBody>
                  <a:tcPr marL="164592" marR="164592" marT="91440" marB="91440" anchor="ctr">
                    <a:solidFill>
                      <a:schemeClr val="accent1">
                        <a:lumMod val="5000"/>
                        <a:lumOff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4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>
                          <a:solidFill>
                            <a:schemeClr val="tx1"/>
                          </a:solidFill>
                        </a:defRPr>
                      </a:pPr>
                      <a:r>
                        <a:t>Explicit outcome + delivery policy</a:t>
                      </a:r>
                    </a:p>
                  </a:txBody>
                  <a:tcPr marL="164592" marR="164592" marT="91440" marB="91440" anchor="ctr">
                    <a:solidFill>
                      <a:schemeClr val="accent1">
                        <a:lumMod val="5000"/>
                        <a:lumOff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94360" y="5733288"/>
            <a:ext cx="10972800" cy="603504"/>
          </a:xfrm>
          <a:prstGeom prst="roundRect">
            <a:avLst>
              <a:gd name="adj" fmla="val 6000"/>
            </a:avLst>
          </a:prstGeom>
          <a:solidFill>
            <a:schemeClr val="accent1">
              <a:lumMod val="9000"/>
              <a:lumOff val="91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5824727"/>
            <a:ext cx="10561320" cy="420624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874"/>
              </a:lnSpc>
              <a:spcBef>
                <a:spcPts val="0"/>
              </a:spcBef>
              <a:spcAft>
                <a:spcPts val="800"/>
              </a:spcAft>
              <a:defRPr sz="2500" b="1">
                <a:solidFill>
                  <a:schemeClr val="tx1"/>
                </a:solidFill>
              </a:defRPr>
            </a:pPr>
            <a:r>
              <a:t>Experience is useful when the next change can inherit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20040"/>
            <a:ext cx="10972800" cy="713232"/>
          </a:xfrm>
        </p:spPr>
        <p:txBody>
          <a:bodyPr wrap="square" anchor="t" lIns="0" rIns="0">
            <a:noAutofit/>
          </a:bodyPr>
          <a:lstStyle/>
          <a:p>
            <a:pPr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</a:defRPr>
            </a:pPr>
            <a:r>
              <a:t>A brief frog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800"/>
              </a:spcAft>
              <a:defRPr sz="1000" b="0">
                <a:solidFill>
                  <a:schemeClr val="tx1"/>
                </a:solidFill>
              </a:defRPr>
            </a:pPr>
            <a:r>
              <a:t>John Azariah  |  AI &amp; software craft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594360" cy="27432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800"/>
              </a:spcAft>
              <a:defRPr sz="1200" b="0">
                <a:solidFill>
                  <a:schemeClr val="tx1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800"/>
              </a:spcAft>
              <a:defRPr sz="1800" b="0">
                <a:solidFill>
                  <a:schemeClr val="accent1"/>
                </a:solidFill>
              </a:defRPr>
            </a:pPr>
            <a:r>
              <a:t>One program. Different interpretations.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4709160" cy="2834640"/>
          </a:xfrm>
          <a:prstGeom prst="roundRect">
            <a:avLst>
              <a:gd name="adj" fmla="val 6000"/>
            </a:avLst>
          </a:prstGeom>
          <a:solidFill>
            <a:schemeClr val="accent1">
              <a:lumMod val="4000"/>
              <a:lumOff val="9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56816"/>
            <a:ext cx="4343400" cy="2606040"/>
          </a:xfrm>
          <a:prstGeom prst="rect">
            <a:avLst/>
          </a:prstGeom>
          <a:noFill/>
        </p:spPr>
        <p:txBody>
          <a:bodyPr wrap="none" anchor="t" lIns="22860" rIns="22860" tIns="22860" bIns="22860">
            <a:noAutofit/>
          </a:bodyPr>
          <a:lstStyle/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chemeClr val="tx1"/>
                </a:solidFill>
                <a:latin typeface="Consolas"/>
              </a:defRPr>
            </a:pPr>
            <a:r>
              <a:t>let adventure = frog {</a:t>
            </a:r>
          </a:p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chemeClr val="tx1"/>
                </a:solidFill>
                <a:latin typeface="Consolas"/>
              </a:defRPr>
            </a:pPr>
            <a:r>
              <a:t>    jump</a:t>
            </a:r>
          </a:p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chemeClr val="tx1"/>
                </a:solidFill>
                <a:latin typeface="Consolas"/>
              </a:defRPr>
            </a:pPr>
            <a:r>
              <a:t>    croak</a:t>
            </a:r>
          </a:p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chemeClr val="tx1"/>
                </a:solidFill>
                <a:latin typeface="Consolas"/>
              </a:defRPr>
            </a:pPr>
            <a:r>
              <a:t>    jump</a:t>
            </a:r>
          </a:p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chemeClr val="tx1"/>
                </a:solidFill>
                <a:latin typeface="Consolas"/>
              </a:defRPr>
            </a:pPr>
            <a:r>
              <a:t>    eat_fly</a:t>
            </a:r>
          </a:p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chemeClr val="tx1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737360"/>
            <a:ext cx="5715000" cy="1508760"/>
          </a:xfrm>
          <a:prstGeom prst="roundRect">
            <a:avLst>
              <a:gd name="adj" fmla="val 6000"/>
            </a:avLst>
          </a:prstGeom>
          <a:solidFill>
            <a:schemeClr val="accent1">
              <a:lumMod val="7000"/>
              <a:lumOff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53328" y="1856231"/>
            <a:ext cx="5312664" cy="402336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415"/>
              </a:lnSpc>
              <a:spcBef>
                <a:spcPts val="0"/>
              </a:spcBef>
              <a:spcAft>
                <a:spcPts val="800"/>
              </a:spcAft>
              <a:defRPr sz="2100" b="1">
                <a:solidFill>
                  <a:schemeClr val="accent1"/>
                </a:solidFill>
              </a:defRPr>
            </a:pPr>
            <a:r>
              <a:t>Narrative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3328" y="2286000"/>
            <a:ext cx="5312664" cy="850391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592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chemeClr val="tx1"/>
                </a:solidFill>
              </a:defRPr>
            </a:pPr>
            <a:r>
              <a:t>Describe the 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3520440"/>
            <a:ext cx="5715000" cy="1508760"/>
          </a:xfrm>
          <a:prstGeom prst="roundRect">
            <a:avLst>
              <a:gd name="adj" fmla="val 6000"/>
            </a:avLst>
          </a:prstGeom>
          <a:solidFill>
            <a:schemeClr val="accent1">
              <a:lumMod val="7000"/>
              <a:lumOff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53328" y="3639312"/>
            <a:ext cx="5312664" cy="402336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415"/>
              </a:lnSpc>
              <a:spcBef>
                <a:spcPts val="0"/>
              </a:spcBef>
              <a:spcAft>
                <a:spcPts val="800"/>
              </a:spcAft>
              <a:defRPr sz="2100" b="1">
                <a:solidFill>
                  <a:schemeClr val="accent1"/>
                </a:solidFill>
              </a:defRPr>
            </a:pPr>
            <a:r>
              <a:t>Simulation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3328" y="4069080"/>
            <a:ext cx="5312664" cy="850391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592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chemeClr val="tx1"/>
                </a:solidFill>
              </a:defRPr>
            </a:pPr>
            <a:r>
              <a:t>Update the frog's state.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92040"/>
            <a:ext cx="4937760" cy="36576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800"/>
              </a:spcAft>
              <a:defRPr sz="1600" b="0">
                <a:solidFill>
                  <a:schemeClr val="tx1"/>
                </a:solidFill>
              </a:defRPr>
            </a:pPr>
            <a:r>
              <a:t>DSL sketch; builder omitted.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5733288"/>
            <a:ext cx="10972800" cy="603504"/>
          </a:xfrm>
          <a:prstGeom prst="roundRect">
            <a:avLst>
              <a:gd name="adj" fmla="val 6000"/>
            </a:avLst>
          </a:prstGeom>
          <a:solidFill>
            <a:schemeClr val="accent1">
              <a:lumMod val="9000"/>
              <a:lumOff val="91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5824727"/>
            <a:ext cx="10561320" cy="420624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874"/>
              </a:lnSpc>
              <a:spcBef>
                <a:spcPts val="0"/>
              </a:spcBef>
              <a:spcAft>
                <a:spcPts val="800"/>
              </a:spcAft>
              <a:defRPr sz="2500" b="1">
                <a:solidFill>
                  <a:schemeClr val="tx1"/>
                </a:solidFill>
              </a:defRPr>
            </a:pPr>
            <a:r>
              <a:t>The interpreter supplies meaning—and how results combine.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20040"/>
            <a:ext cx="10972800" cy="713232"/>
          </a:xfrm>
        </p:spPr>
        <p:txBody>
          <a:bodyPr wrap="square" anchor="t" lIns="0" rIns="0"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chemeClr val="tx1"/>
                </a:solidFill>
              </a:defRPr>
            </a:pPr>
            <a:r>
              <a:t>The frog doesn't have a payment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800"/>
              </a:spcAft>
              <a:defRPr sz="1000" b="0">
                <a:solidFill>
                  <a:schemeClr val="tx1"/>
                </a:solidFill>
              </a:defRPr>
            </a:pPr>
            <a:r>
              <a:t>John Azariah  |  AI &amp; software craft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594360" cy="27432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800"/>
              </a:spcAft>
              <a:defRPr sz="1200" b="0">
                <a:solidFill>
                  <a:schemeClr val="tx1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800"/>
              </a:spcAft>
              <a:defRPr sz="1800" b="0">
                <a:solidFill>
                  <a:schemeClr val="accent1"/>
                </a:solidFill>
              </a:defRPr>
            </a:pPr>
            <a:r>
              <a:t>Now an operation needs a value produced by an earlier operation.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47088"/>
            <a:ext cx="3429000" cy="2606040"/>
          </a:xfrm>
          <a:prstGeom prst="roundRect">
            <a:avLst>
              <a:gd name="adj" fmla="val 6000"/>
            </a:avLst>
          </a:prstGeom>
          <a:solidFill>
            <a:schemeClr val="accent1">
              <a:lumMod val="7000"/>
              <a:lumOff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65960"/>
            <a:ext cx="3026664" cy="77724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645"/>
              </a:lnSpc>
              <a:spcBef>
                <a:spcPts val="0"/>
              </a:spcBef>
              <a:spcAft>
                <a:spcPts val="800"/>
              </a:spcAft>
              <a:defRPr sz="2300" b="1">
                <a:solidFill>
                  <a:schemeClr val="accent1"/>
                </a:solidFill>
              </a:defRPr>
            </a:pPr>
            <a:r>
              <a:t>Domain operation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752344"/>
            <a:ext cx="3026664" cy="1591056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592"/>
              </a:lnSpc>
              <a:spcBef>
                <a:spcPts val="0"/>
              </a:spcBef>
              <a:spcAft>
                <a:spcPts val="800"/>
              </a:spcAft>
              <a:defRPr sz="2400" b="0">
                <a:solidFill>
                  <a:schemeClr val="tx1"/>
                </a:solidFill>
              </a:defRPr>
            </a:pPr>
            <a:r>
              <a:t>CalculatePrice</a:t>
            </a:r>
          </a:p>
          <a:p>
            <a:pPr algn="l">
              <a:lnSpc>
                <a:spcPts val="2592"/>
              </a:lnSpc>
              <a:spcBef>
                <a:spcPts val="0"/>
              </a:spcBef>
              <a:spcAft>
                <a:spcPts val="800"/>
              </a:spcAft>
              <a:defRPr sz="2400" b="0">
                <a:solidFill>
                  <a:schemeClr val="tx1"/>
                </a:solidFill>
              </a:defRPr>
            </a:pPr>
          </a:p>
          <a:p>
            <a:pPr algn="l">
              <a:lnSpc>
                <a:spcPts val="2592"/>
              </a:lnSpc>
              <a:spcBef>
                <a:spcPts val="0"/>
              </a:spcBef>
              <a:spcAft>
                <a:spcPts val="800"/>
              </a:spcAft>
              <a:defRPr sz="2400" b="0">
                <a:solidFill>
                  <a:schemeClr val="tx1"/>
                </a:solidFill>
              </a:defRPr>
            </a:pPr>
            <a:r>
              <a:t>Produces a price result.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47088"/>
            <a:ext cx="3429000" cy="2606040"/>
          </a:xfrm>
          <a:prstGeom prst="roundRect">
            <a:avLst>
              <a:gd name="adj" fmla="val 6000"/>
            </a:avLst>
          </a:prstGeom>
          <a:solidFill>
            <a:schemeClr val="accent1">
              <a:lumMod val="7000"/>
              <a:lumOff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965960"/>
            <a:ext cx="3026664" cy="77724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645"/>
              </a:lnSpc>
              <a:spcBef>
                <a:spcPts val="0"/>
              </a:spcBef>
              <a:spcAft>
                <a:spcPts val="800"/>
              </a:spcAft>
              <a:defRPr sz="2300" b="1">
                <a:solidFill>
                  <a:schemeClr val="accent1"/>
                </a:solidFill>
              </a:defRPr>
            </a:pPr>
            <a:r>
              <a:t>Pure transformation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752344"/>
            <a:ext cx="3026664" cy="1591056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592"/>
              </a:lnSpc>
              <a:spcBef>
                <a:spcPts val="0"/>
              </a:spcBef>
              <a:spcAft>
                <a:spcPts val="800"/>
              </a:spcAft>
              <a:defRPr sz="2400" b="0">
                <a:solidFill>
                  <a:schemeClr val="tx1"/>
                </a:solidFill>
              </a:defRPr>
            </a:pPr>
            <a:r>
              <a:t>price.Total</a:t>
            </a:r>
          </a:p>
          <a:p>
            <a:pPr algn="l">
              <a:lnSpc>
                <a:spcPts val="2592"/>
              </a:lnSpc>
              <a:spcBef>
                <a:spcPts val="0"/>
              </a:spcBef>
              <a:spcAft>
                <a:spcPts val="800"/>
              </a:spcAft>
              <a:defRPr sz="2400" b="0">
                <a:solidFill>
                  <a:schemeClr val="tx1"/>
                </a:solidFill>
              </a:defRPr>
            </a:pPr>
            <a:r>
              <a:t>make payment request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847088"/>
            <a:ext cx="3383280" cy="2606040"/>
          </a:xfrm>
          <a:prstGeom prst="roundRect">
            <a:avLst>
              <a:gd name="adj" fmla="val 6000"/>
            </a:avLst>
          </a:prstGeom>
          <a:solidFill>
            <a:schemeClr val="accent1">
              <a:lumMod val="7000"/>
              <a:lumOff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965960"/>
            <a:ext cx="2980944" cy="77724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645"/>
              </a:lnSpc>
              <a:spcBef>
                <a:spcPts val="0"/>
              </a:spcBef>
              <a:spcAft>
                <a:spcPts val="800"/>
              </a:spcAft>
              <a:defRPr sz="2300" b="1">
                <a:solidFill>
                  <a:schemeClr val="accent1"/>
                </a:solidFill>
              </a:defRPr>
            </a:pPr>
            <a:r>
              <a:t>Domain operation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752344"/>
            <a:ext cx="2980944" cy="1591056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592"/>
              </a:lnSpc>
              <a:spcBef>
                <a:spcPts val="0"/>
              </a:spcBef>
              <a:spcAft>
                <a:spcPts val="800"/>
              </a:spcAft>
              <a:defRPr sz="2400" b="0">
                <a:solidFill>
                  <a:schemeClr val="tx1"/>
                </a:solidFill>
              </a:defRPr>
            </a:pPr>
            <a:r>
              <a:t>ChargePayment</a:t>
            </a:r>
          </a:p>
          <a:p>
            <a:pPr algn="l">
              <a:lnSpc>
                <a:spcPts val="2592"/>
              </a:lnSpc>
              <a:spcBef>
                <a:spcPts val="0"/>
              </a:spcBef>
              <a:spcAft>
                <a:spcPts val="800"/>
              </a:spcAft>
              <a:defRPr sz="2400" b="0">
                <a:solidFill>
                  <a:schemeClr val="tx1"/>
                </a:solidFill>
              </a:defRPr>
            </a:pPr>
          </a:p>
          <a:p>
            <a:pPr algn="l">
              <a:lnSpc>
                <a:spcPts val="2592"/>
              </a:lnSpc>
              <a:spcBef>
                <a:spcPts val="0"/>
              </a:spcBef>
              <a:spcAft>
                <a:spcPts val="800"/>
              </a:spcAft>
              <a:defRPr sz="2400" b="0">
                <a:solidFill>
                  <a:schemeClr val="tx1"/>
                </a:solidFill>
              </a:defRPr>
            </a:pPr>
            <a:r>
              <a:t>Uses that request.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880360"/>
            <a:ext cx="365760" cy="50292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874"/>
              </a:lnSpc>
              <a:spcBef>
                <a:spcPts val="0"/>
              </a:spcBef>
              <a:spcAft>
                <a:spcPts val="800"/>
              </a:spcAft>
              <a:defRPr sz="2500" b="0">
                <a:solidFill>
                  <a:schemeClr val="accent1"/>
                </a:solidFill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880360"/>
            <a:ext cx="365760" cy="50292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874"/>
              </a:lnSpc>
              <a:spcBef>
                <a:spcPts val="0"/>
              </a:spcBef>
              <a:spcAft>
                <a:spcPts val="800"/>
              </a:spcAft>
              <a:defRPr sz="2500" b="0">
                <a:solidFill>
                  <a:schemeClr val="accent1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46320"/>
            <a:ext cx="10652760" cy="54864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760"/>
              </a:lnSpc>
              <a:spcBef>
                <a:spcPts val="0"/>
              </a:spcBef>
              <a:spcAft>
                <a:spcPts val="800"/>
              </a:spcAft>
              <a:defRPr sz="2400" b="0">
                <a:solidFill>
                  <a:schemeClr val="tx1"/>
                </a:solidFill>
              </a:defRPr>
            </a:pPr>
            <a:r>
              <a:t>Sequencing makes the result available to the next computation.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733288"/>
            <a:ext cx="10972800" cy="603504"/>
          </a:xfrm>
          <a:prstGeom prst="roundRect">
            <a:avLst>
              <a:gd name="adj" fmla="val 6000"/>
            </a:avLst>
          </a:prstGeom>
          <a:solidFill>
            <a:schemeClr val="accent1">
              <a:lumMod val="9000"/>
              <a:lumOff val="91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5824727"/>
            <a:ext cx="10561320" cy="420624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874"/>
              </a:lnSpc>
              <a:spcBef>
                <a:spcPts val="0"/>
              </a:spcBef>
              <a:spcAft>
                <a:spcPts val="800"/>
              </a:spcAft>
              <a:defRPr sz="2500" b="1">
                <a:solidFill>
                  <a:schemeClr val="tx1"/>
                </a:solidFill>
              </a:defRPr>
            </a:pPr>
            <a:r>
              <a:t>Domain vocabulary is not the sequencing machinery.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20040"/>
            <a:ext cx="10972800" cy="713232"/>
          </a:xfrm>
        </p:spPr>
        <p:txBody>
          <a:bodyPr wrap="square" anchor="t" lIns="0" rIns="0">
            <a:noAutofit/>
          </a:bodyPr>
          <a:lstStyle/>
          <a:p>
            <a:pPr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</a:defRPr>
            </a:pPr>
            <a:r>
              <a:t>Write the decision once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800"/>
              </a:spcAft>
              <a:defRPr sz="1000" b="0">
                <a:solidFill>
                  <a:schemeClr val="tx1"/>
                </a:solidFill>
              </a:defRPr>
            </a:pPr>
            <a:r>
              <a:t>John Azariah  |  AI &amp; software craft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594360" cy="27432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800"/>
              </a:spcAft>
              <a:defRPr sz="1200" b="0">
                <a:solidFill>
                  <a:schemeClr val="tx1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800"/>
              </a:spcAft>
              <a:defRPr sz="1800" b="0">
                <a:solidFill>
                  <a:schemeClr val="accent1"/>
                </a:solidFill>
              </a:defRPr>
            </a:pPr>
            <a:r>
              <a:t>K&lt;F, A&gt;: an A produced in interpretation 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00784"/>
            <a:ext cx="10972800" cy="2267712"/>
          </a:xfrm>
          <a:prstGeom prst="roundRect">
            <a:avLst>
              <a:gd name="adj" fmla="val 6000"/>
            </a:avLst>
          </a:prstGeom>
          <a:solidFill>
            <a:schemeClr val="accent1">
              <a:lumMod val="4000"/>
              <a:lumOff val="9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2039112"/>
          </a:xfrm>
          <a:prstGeom prst="rect">
            <a:avLst/>
          </a:prstGeom>
          <a:noFill/>
        </p:spPr>
        <p:txBody>
          <a:bodyPr wrap="none" anchor="t" lIns="22860" rIns="22860" tIns="22860" bIns="22860">
            <a:noAutofit/>
          </a:bodyPr>
          <a:lstStyle/>
          <a:p>
            <a:pPr algn="l">
              <a:lnSpc>
                <a:spcPts val="2645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chemeClr val="tx1"/>
                </a:solidFill>
                <a:latin typeface="Consolas"/>
              </a:defRPr>
            </a:pPr>
            <a:r>
              <a:t>public static K&lt;F, string&gt; PlaceOrder&lt;F&gt;(string items)</a:t>
            </a:r>
          </a:p>
          <a:p>
            <a:pPr algn="l">
              <a:lnSpc>
                <a:spcPts val="2645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chemeClr val="tx1"/>
                </a:solidFill>
                <a:latin typeface="Consolas"/>
              </a:defRPr>
            </a:pPr>
            <a:r>
              <a:t>    where F : OrderAlgebra&lt;F&gt; =&gt;</a:t>
            </a:r>
          </a:p>
          <a:p>
            <a:pPr algn="l">
              <a:lnSpc>
                <a:spcPts val="2645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chemeClr val="tx1"/>
                </a:solidFill>
                <a:latin typeface="Consolas"/>
              </a:defRPr>
            </a:pPr>
            <a:r>
              <a:t>    from stock  in F.CheckStock(items)</a:t>
            </a:r>
          </a:p>
          <a:p>
            <a:pPr algn="l">
              <a:lnSpc>
                <a:spcPts val="264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chemeClr val="accent1"/>
                </a:solidFill>
                <a:latin typeface="Consolas"/>
              </a:defRPr>
            </a:pPr>
            <a:r>
              <a:t>    from price  in F.CalculatePrice(items)</a:t>
            </a:r>
          </a:p>
          <a:p>
            <a:pPr algn="l">
              <a:lnSpc>
                <a:spcPts val="264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chemeClr val="accent1"/>
                </a:solidFill>
                <a:latin typeface="Consolas"/>
              </a:defRPr>
            </a:pPr>
            <a:r>
              <a:t>    from charge in F.ChargePayment(price)</a:t>
            </a:r>
          </a:p>
          <a:p>
            <a:pPr algn="l">
              <a:lnSpc>
                <a:spcPts val="2645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chemeClr val="tx1"/>
                </a:solidFill>
                <a:latin typeface="Consolas"/>
              </a:defRPr>
            </a:pPr>
            <a:r>
              <a:t>    select charge;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87952"/>
            <a:ext cx="5303520" cy="1271016"/>
          </a:xfrm>
          <a:prstGeom prst="roundRect">
            <a:avLst>
              <a:gd name="adj" fmla="val 6000"/>
            </a:avLst>
          </a:prstGeom>
          <a:solidFill>
            <a:schemeClr val="accent1">
              <a:lumMod val="7000"/>
              <a:lumOff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4306824"/>
            <a:ext cx="4901183" cy="402336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415"/>
              </a:lnSpc>
              <a:spcBef>
                <a:spcPts val="0"/>
              </a:spcBef>
              <a:spcAft>
                <a:spcPts val="800"/>
              </a:spcAft>
              <a:defRPr sz="2100" b="1">
                <a:solidFill>
                  <a:schemeClr val="accent1"/>
                </a:solidFill>
              </a:defRPr>
            </a:pPr>
            <a:r>
              <a:t>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4736592"/>
            <a:ext cx="4901183" cy="612647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chemeClr val="tx1"/>
                </a:solidFill>
              </a:defRPr>
            </a:pPr>
            <a:r>
              <a:t>Return a value.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87952"/>
            <a:ext cx="5349240" cy="1271016"/>
          </a:xfrm>
          <a:prstGeom prst="roundRect">
            <a:avLst>
              <a:gd name="adj" fmla="val 6000"/>
            </a:avLst>
          </a:prstGeom>
          <a:solidFill>
            <a:schemeClr val="accent1">
              <a:lumMod val="7000"/>
              <a:lumOff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4306824"/>
            <a:ext cx="4946903" cy="402336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415"/>
              </a:lnSpc>
              <a:spcBef>
                <a:spcPts val="0"/>
              </a:spcBef>
              <a:spcAft>
                <a:spcPts val="800"/>
              </a:spcAft>
              <a:defRPr sz="2100" b="1">
                <a:solidFill>
                  <a:schemeClr val="accent1"/>
                </a:solidFill>
              </a:defRPr>
            </a:pPr>
            <a:r>
              <a:t>Trace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4736592"/>
            <a:ext cx="4946903" cy="612647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chemeClr val="tx1"/>
                </a:solidFill>
              </a:defRPr>
            </a:pPr>
            <a:r>
              <a:t>Value + operation log.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733288"/>
            <a:ext cx="10972800" cy="603504"/>
          </a:xfrm>
          <a:prstGeom prst="roundRect">
            <a:avLst>
              <a:gd name="adj" fmla="val 6000"/>
            </a:avLst>
          </a:prstGeom>
          <a:solidFill>
            <a:schemeClr val="accent1">
              <a:lumMod val="9000"/>
              <a:lumOff val="91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5824727"/>
            <a:ext cx="10561320" cy="420624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645"/>
              </a:lnSpc>
              <a:spcBef>
                <a:spcPts val="0"/>
              </a:spcBef>
              <a:spcAft>
                <a:spcPts val="800"/>
              </a:spcAft>
              <a:defRPr sz="2300" b="1">
                <a:solidFill>
                  <a:schemeClr val="tx1"/>
                </a:solidFill>
              </a:defRPr>
            </a:pPr>
            <a:r>
              <a:t>Small composition example—not a production order 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20040"/>
            <a:ext cx="10972800" cy="713232"/>
          </a:xfrm>
        </p:spPr>
        <p:txBody>
          <a:bodyPr wrap="square" anchor="t" lIns="0" rIns="0"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chemeClr val="tx1"/>
                </a:solidFill>
              </a:defRPr>
            </a:pPr>
            <a:r>
              <a:t>Two representations. What survives the journey?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800"/>
              </a:spcAft>
              <a:defRPr sz="1000" b="0">
                <a:solidFill>
                  <a:schemeClr val="tx1"/>
                </a:solidFill>
              </a:defRPr>
            </a:pPr>
            <a:r>
              <a:t>John Azariah  |  AI &amp; software craft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594360" cy="27432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800"/>
              </a:spcAft>
              <a:defRPr sz="1200" b="0">
                <a:solidFill>
                  <a:schemeClr val="tx1"/>
                </a:solidFill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4937760" cy="2011680"/>
          </a:xfrm>
          <a:prstGeom prst="roundRect">
            <a:avLst>
              <a:gd name="adj" fmla="val 6000"/>
            </a:avLst>
          </a:prstGeom>
          <a:solidFill>
            <a:schemeClr val="accent1">
              <a:lumMod val="7000"/>
              <a:lumOff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993391"/>
            <a:ext cx="4535424" cy="77724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645"/>
              </a:lnSpc>
              <a:spcBef>
                <a:spcPts val="0"/>
              </a:spcBef>
              <a:spcAft>
                <a:spcPts val="800"/>
              </a:spcAft>
              <a:defRPr sz="2300" b="1">
                <a:solidFill>
                  <a:schemeClr val="accent1"/>
                </a:solidFill>
              </a:defRPr>
            </a:pPr>
            <a:r>
              <a:t>Explicit program syntax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779776"/>
            <a:ext cx="4535424" cy="996696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800"/>
              </a:spcAft>
              <a:defRPr sz="2500" b="0">
                <a:solidFill>
                  <a:schemeClr val="tx1"/>
                </a:solidFill>
              </a:defRPr>
            </a:pPr>
            <a:r>
              <a:t>Instructions and the structure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800"/>
              </a:spcAft>
              <a:defRPr sz="2500" b="0">
                <a:solidFill>
                  <a:schemeClr val="tx1"/>
                </a:solidFill>
              </a:defRPr>
            </a:pPr>
            <a:r>
              <a:t>connecting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01968" y="1874519"/>
            <a:ext cx="4965192" cy="2011680"/>
          </a:xfrm>
          <a:prstGeom prst="roundRect">
            <a:avLst>
              <a:gd name="adj" fmla="val 6000"/>
            </a:avLst>
          </a:prstGeom>
          <a:solidFill>
            <a:schemeClr val="accent1">
              <a:lumMod val="7000"/>
              <a:lumOff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03136" y="1993391"/>
            <a:ext cx="4562855" cy="77724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645"/>
              </a:lnSpc>
              <a:spcBef>
                <a:spcPts val="0"/>
              </a:spcBef>
              <a:spcAft>
                <a:spcPts val="800"/>
              </a:spcAft>
              <a:defRPr sz="2300" b="1">
                <a:solidFill>
                  <a:schemeClr val="accent1"/>
                </a:solidFill>
              </a:defRPr>
            </a:pPr>
            <a:r>
              <a:t>Program through interpreters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03136" y="2779776"/>
            <a:ext cx="4562855" cy="996696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800"/>
              </a:spcAft>
              <a:defRPr sz="2500" b="0">
                <a:solidFill>
                  <a:schemeClr val="tx1"/>
                </a:solidFill>
              </a:defRPr>
            </a:pPr>
            <a:r>
              <a:t>One uniform program;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800"/>
              </a:spcAft>
              <a:defRPr sz="2500" b="0">
                <a:solidFill>
                  <a:schemeClr val="tx1"/>
                </a:solidFill>
              </a:defRPr>
            </a:pPr>
            <a:r>
              <a:t>different interpretations.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6128" y="2459736"/>
            <a:ext cx="950976" cy="73152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ctr">
              <a:lnSpc>
                <a:spcPts val="4484"/>
              </a:lnSpc>
              <a:spcBef>
                <a:spcPts val="0"/>
              </a:spcBef>
              <a:spcAft>
                <a:spcPts val="800"/>
              </a:spcAft>
              <a:defRPr sz="3900" b="0">
                <a:solidFill>
                  <a:schemeClr val="accent1"/>
                </a:solidFill>
              </a:defRPr>
            </a:pPr>
            <a:r>
              <a:t>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407408"/>
            <a:ext cx="10698480" cy="1024128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760"/>
              </a:lnSpc>
              <a:spcBef>
                <a:spcPts val="0"/>
              </a:spcBef>
              <a:spcAft>
                <a:spcPts val="800"/>
              </a:spcAft>
              <a:defRPr sz="2400" b="0">
                <a:solidFill>
                  <a:schemeClr val="tx1"/>
                </a:solidFill>
              </a:defRPr>
            </a:pPr>
            <a:r>
              <a:t>Condition: uniform behaviour across interpretations.</a:t>
            </a:r>
          </a:p>
          <a:p>
            <a:pPr algn="l">
              <a:lnSpc>
                <a:spcPts val="2760"/>
              </a:lnSpc>
              <a:spcBef>
                <a:spcPts val="0"/>
              </a:spcBef>
              <a:spcAft>
                <a:spcPts val="800"/>
              </a:spcAft>
              <a:defRPr sz="2400" b="0">
                <a:solidFill>
                  <a:schemeClr val="tx1"/>
                </a:solidFill>
              </a:defRPr>
            </a:pPr>
            <a:r>
              <a:t>Recovery may preserve meaning without preserving exact syntax.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5733288"/>
            <a:ext cx="10972800" cy="603504"/>
          </a:xfrm>
          <a:prstGeom prst="roundRect">
            <a:avLst>
              <a:gd name="adj" fmla="val 6000"/>
            </a:avLst>
          </a:prstGeom>
          <a:solidFill>
            <a:schemeClr val="accent1">
              <a:lumMod val="9000"/>
              <a:lumOff val="91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5824727"/>
            <a:ext cx="10561320" cy="420624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760"/>
              </a:lnSpc>
              <a:spcBef>
                <a:spcPts val="0"/>
              </a:spcBef>
              <a:spcAft>
                <a:spcPts val="800"/>
              </a:spcAft>
              <a:defRPr sz="2400" b="1">
                <a:solidFill>
                  <a:schemeClr val="tx1"/>
                </a:solidFill>
              </a:defRPr>
            </a:pPr>
            <a:r>
              <a:t>Preserving the program does not prove the program right.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20040"/>
            <a:ext cx="10972800" cy="713232"/>
          </a:xfrm>
        </p:spPr>
        <p:txBody>
          <a:bodyPr wrap="square" anchor="t" lIns="0" rIns="0">
            <a:noAutofit/>
          </a:bodyPr>
          <a:lstStyle/>
          <a:p>
            <a:pPr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</a:defRPr>
            </a:pPr>
            <a:r>
              <a:t>My explanation needed debugging too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800"/>
              </a:spcAft>
              <a:defRPr sz="1000" b="0">
                <a:solidFill>
                  <a:schemeClr val="tx1"/>
                </a:solidFill>
              </a:defRPr>
            </a:pPr>
            <a:r>
              <a:t>John Azariah  |  AI &amp; software craft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594360" cy="27432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800"/>
              </a:spcAft>
              <a:defRPr sz="1200" b="0">
                <a:solidFill>
                  <a:schemeClr val="tx1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800"/>
              </a:spcAft>
              <a:defRPr sz="1800" b="0">
                <a:solidFill>
                  <a:schemeClr val="accent1"/>
                </a:solidFill>
              </a:defRPr>
            </a:pPr>
            <a:r>
              <a:t>The later work sharpened what the original account could claim.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2578608" cy="2633472"/>
          </a:xfrm>
          <a:prstGeom prst="roundRect">
            <a:avLst>
              <a:gd name="adj" fmla="val 6000"/>
            </a:avLst>
          </a:prstGeom>
          <a:solidFill>
            <a:schemeClr val="accent1">
              <a:lumMod val="7000"/>
              <a:lumOff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084831"/>
            <a:ext cx="2176272" cy="77724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645"/>
              </a:lnSpc>
              <a:spcBef>
                <a:spcPts val="0"/>
              </a:spcBef>
              <a:spcAft>
                <a:spcPts val="800"/>
              </a:spcAft>
              <a:defRPr sz="2300" b="1">
                <a:solidFill>
                  <a:schemeClr val="accent1"/>
                </a:solidFill>
              </a:defRPr>
            </a:pPr>
            <a:r>
              <a:t>“It compiles”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871215"/>
            <a:ext cx="2176272" cy="1618488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376"/>
              </a:lnSpc>
              <a:spcBef>
                <a:spcPts val="0"/>
              </a:spcBef>
              <a:spcAft>
                <a:spcPts val="800"/>
              </a:spcAft>
              <a:defRPr sz="2200" b="0">
                <a:solidFill>
                  <a:schemeClr val="tx1"/>
                </a:solidFill>
              </a:defRPr>
            </a:pPr>
            <a:r>
              <a:t>Some properties</a:t>
            </a:r>
          </a:p>
          <a:p>
            <a:pPr algn="l">
              <a:lnSpc>
                <a:spcPts val="2376"/>
              </a:lnSpc>
              <a:spcBef>
                <a:spcPts val="0"/>
              </a:spcBef>
              <a:spcAft>
                <a:spcPts val="800"/>
              </a:spcAft>
              <a:defRPr sz="2200" b="0">
                <a:solidFill>
                  <a:schemeClr val="tx1"/>
                </a:solidFill>
              </a:defRPr>
            </a:pPr>
            <a:r>
              <a:t>were checked.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1965960"/>
            <a:ext cx="2578608" cy="2633472"/>
          </a:xfrm>
          <a:prstGeom prst="roundRect">
            <a:avLst>
              <a:gd name="adj" fmla="val 6000"/>
            </a:avLst>
          </a:prstGeom>
          <a:solidFill>
            <a:schemeClr val="accent1">
              <a:lumMod val="7000"/>
              <a:lumOff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2084831"/>
            <a:ext cx="2176272" cy="77724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645"/>
              </a:lnSpc>
              <a:spcBef>
                <a:spcPts val="0"/>
              </a:spcBef>
              <a:spcAft>
                <a:spcPts val="800"/>
              </a:spcAft>
              <a:defRPr sz="2300" b="1">
                <a:solidFill>
                  <a:schemeClr val="accent1"/>
                </a:solidFill>
              </a:defRPr>
            </a:pPr>
            <a:r>
              <a:t>“These tests pass”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871215"/>
            <a:ext cx="2176272" cy="1618488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376"/>
              </a:lnSpc>
              <a:spcBef>
                <a:spcPts val="0"/>
              </a:spcBef>
              <a:spcAft>
                <a:spcPts val="800"/>
              </a:spcAft>
              <a:defRPr sz="2200" b="0">
                <a:solidFill>
                  <a:schemeClr val="tx1"/>
                </a:solidFill>
              </a:defRPr>
            </a:pPr>
            <a:r>
              <a:t>These cases</a:t>
            </a:r>
          </a:p>
          <a:p>
            <a:pPr algn="l">
              <a:lnSpc>
                <a:spcPts val="2376"/>
              </a:lnSpc>
              <a:spcBef>
                <a:spcPts val="0"/>
              </a:spcBef>
              <a:spcAft>
                <a:spcPts val="800"/>
              </a:spcAft>
              <a:defRPr sz="2200" b="0">
                <a:solidFill>
                  <a:schemeClr val="tx1"/>
                </a:solidFill>
              </a:defRPr>
            </a:pPr>
            <a:r>
              <a:t>were exercised.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965960"/>
            <a:ext cx="2578608" cy="2633472"/>
          </a:xfrm>
          <a:prstGeom prst="roundRect">
            <a:avLst>
              <a:gd name="adj" fmla="val 6000"/>
            </a:avLst>
          </a:prstGeom>
          <a:solidFill>
            <a:schemeClr val="accent1">
              <a:lumMod val="7000"/>
              <a:lumOff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2084831"/>
            <a:ext cx="2176272" cy="77724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645"/>
              </a:lnSpc>
              <a:spcBef>
                <a:spcPts val="0"/>
              </a:spcBef>
              <a:spcAft>
                <a:spcPts val="800"/>
              </a:spcAft>
              <a:defRPr sz="2300" b="1">
                <a:solidFill>
                  <a:schemeClr val="accent1"/>
                </a:solidFill>
              </a:defRPr>
            </a:pPr>
            <a:r>
              <a:t>“This is preserved”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2871215"/>
            <a:ext cx="2176272" cy="1618488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376"/>
              </a:lnSpc>
              <a:spcBef>
                <a:spcPts val="0"/>
              </a:spcBef>
              <a:spcAft>
                <a:spcPts val="800"/>
              </a:spcAft>
              <a:defRPr sz="2200" b="0">
                <a:solidFill>
                  <a:schemeClr val="tx1"/>
                </a:solidFill>
              </a:defRPr>
            </a:pPr>
            <a:r>
              <a:t>A stated property</a:t>
            </a:r>
          </a:p>
          <a:p>
            <a:pPr algn="l">
              <a:lnSpc>
                <a:spcPts val="2376"/>
              </a:lnSpc>
              <a:spcBef>
                <a:spcPts val="0"/>
              </a:spcBef>
              <a:spcAft>
                <a:spcPts val="800"/>
              </a:spcAft>
              <a:defRPr sz="2200" b="0">
                <a:solidFill>
                  <a:schemeClr val="tx1"/>
                </a:solidFill>
              </a:defRPr>
            </a:pPr>
            <a:r>
              <a:t>has evidence.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88552" y="1965960"/>
            <a:ext cx="2578608" cy="2633472"/>
          </a:xfrm>
          <a:prstGeom prst="roundRect">
            <a:avLst>
              <a:gd name="adj" fmla="val 6000"/>
            </a:avLst>
          </a:prstGeom>
          <a:solidFill>
            <a:schemeClr val="accent1">
              <a:lumMod val="7000"/>
              <a:lumOff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2084831"/>
            <a:ext cx="2176272" cy="77724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645"/>
              </a:lnSpc>
              <a:spcBef>
                <a:spcPts val="0"/>
              </a:spcBef>
              <a:spcAft>
                <a:spcPts val="800"/>
              </a:spcAft>
              <a:defRPr sz="2300" b="1">
                <a:solidFill>
                  <a:schemeClr val="accent1"/>
                </a:solidFill>
              </a:defRPr>
            </a:pPr>
            <a:r>
              <a:t>“This fits our domain”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871215"/>
            <a:ext cx="2176272" cy="1618488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376"/>
              </a:lnSpc>
              <a:spcBef>
                <a:spcPts val="0"/>
              </a:spcBef>
              <a:spcAft>
                <a:spcPts val="800"/>
              </a:spcAft>
              <a:defRPr sz="2200" b="0">
                <a:solidFill>
                  <a:schemeClr val="tx1"/>
                </a:solidFill>
              </a:defRPr>
            </a:pPr>
            <a:r>
              <a:t>The requirement</a:t>
            </a:r>
          </a:p>
          <a:p>
            <a:pPr algn="l">
              <a:lnSpc>
                <a:spcPts val="2376"/>
              </a:lnSpc>
              <a:spcBef>
                <a:spcPts val="0"/>
              </a:spcBef>
              <a:spcAft>
                <a:spcPts val="800"/>
              </a:spcAft>
              <a:defRPr sz="2200" b="0">
                <a:solidFill>
                  <a:schemeClr val="tx1"/>
                </a:solidFill>
              </a:defRPr>
            </a:pPr>
            <a:r>
              <a:t>still needs establishing.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65192"/>
            <a:ext cx="10607040" cy="50292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874"/>
              </a:lnSpc>
              <a:spcBef>
                <a:spcPts val="0"/>
              </a:spcBef>
              <a:spcAft>
                <a:spcPts val="800"/>
              </a:spcAft>
              <a:defRPr sz="2500" b="1">
                <a:solidFill>
                  <a:schemeClr val="tx1"/>
                </a:solidFill>
              </a:defRPr>
            </a:pPr>
            <a:r>
              <a:t>Separate claims—not automatic implications.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733288"/>
            <a:ext cx="10972800" cy="603504"/>
          </a:xfrm>
          <a:prstGeom prst="roundRect">
            <a:avLst>
              <a:gd name="adj" fmla="val 6000"/>
            </a:avLst>
          </a:prstGeom>
          <a:solidFill>
            <a:schemeClr val="accent1">
              <a:lumMod val="9000"/>
              <a:lumOff val="91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5824727"/>
            <a:ext cx="10561320" cy="420624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874"/>
              </a:lnSpc>
              <a:spcBef>
                <a:spcPts val="0"/>
              </a:spcBef>
              <a:spcAft>
                <a:spcPts val="800"/>
              </a:spcAft>
              <a:defRPr sz="2500" b="1">
                <a:solidFill>
                  <a:schemeClr val="tx1"/>
                </a:solidFill>
              </a:defRPr>
            </a:pPr>
            <a:r>
              <a:t>What exactly have we established?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20040"/>
            <a:ext cx="10972800" cy="713232"/>
          </a:xfrm>
        </p:spPr>
        <p:txBody>
          <a:bodyPr wrap="square" anchor="t" lIns="0" rIns="0">
            <a:noAutofit/>
          </a:bodyPr>
          <a:lstStyle/>
          <a:p>
            <a:pPr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</a:defRPr>
            </a:pPr>
            <a:r>
              <a:t>May we remove the second read?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800"/>
              </a:spcAft>
              <a:defRPr sz="1000" b="0">
                <a:solidFill>
                  <a:schemeClr val="tx1"/>
                </a:solidFill>
              </a:defRPr>
            </a:pPr>
            <a:r>
              <a:t>John Azariah  |  AI &amp; software craft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594360" cy="27432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800"/>
              </a:spcAft>
              <a:defRPr sz="1200" b="0">
                <a:solidFill>
                  <a:schemeClr val="tx1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800"/>
              </a:spcAft>
              <a:defRPr sz="1800" b="0">
                <a:solidFill>
                  <a:schemeClr val="accent1"/>
                </a:solidFill>
              </a:defRPr>
            </a:pPr>
            <a:r>
              <a:t>Same arguments do not necessarily mean the same observation.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5303520" cy="1801368"/>
          </a:xfrm>
          <a:prstGeom prst="roundRect">
            <a:avLst>
              <a:gd name="adj" fmla="val 6000"/>
            </a:avLst>
          </a:prstGeom>
          <a:solidFill>
            <a:schemeClr val="accent1">
              <a:lumMod val="4000"/>
              <a:lumOff val="9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56816"/>
            <a:ext cx="4937759" cy="1572768"/>
          </a:xfrm>
          <a:prstGeom prst="rect">
            <a:avLst/>
          </a:prstGeom>
          <a:noFill/>
        </p:spPr>
        <p:txBody>
          <a:bodyPr wrap="none" anchor="t" lIns="22860" rIns="22860" tIns="22860" bIns="22860">
            <a:noAutofit/>
          </a:bodyPr>
          <a:lstStyle/>
          <a:p>
            <a:pPr algn="l">
              <a:lnSpc>
                <a:spcPts val="2645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chemeClr val="tx1"/>
                </a:solidFill>
                <a:latin typeface="Consolas"/>
              </a:defRPr>
            </a:pPr>
            <a:r>
              <a:t>first = ReadStock(item)</a:t>
            </a:r>
          </a:p>
          <a:p>
            <a:pPr algn="l">
              <a:lnSpc>
                <a:spcPts val="2645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chemeClr val="tx1"/>
                </a:solidFill>
                <a:latin typeface="Consolas"/>
              </a:defRPr>
            </a:pPr>
            <a:r>
              <a:t>...</a:t>
            </a:r>
          </a:p>
          <a:p>
            <a:pPr algn="l">
              <a:lnSpc>
                <a:spcPts val="2645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chemeClr val="tx1"/>
                </a:solidFill>
                <a:latin typeface="Consolas"/>
              </a:defRPr>
            </a:pPr>
            <a:r>
              <a:t>second = ReadStock(item)</a:t>
            </a:r>
          </a:p>
          <a:p>
            <a:pPr algn="l">
              <a:lnSpc>
                <a:spcPts val="2645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chemeClr val="tx1"/>
                </a:solidFill>
                <a:latin typeface="Consolas"/>
              </a:defRPr>
            </a:pPr>
            <a:r>
              <a:t>use(first, second)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5303520" cy="1801368"/>
          </a:xfrm>
          <a:prstGeom prst="roundRect">
            <a:avLst>
              <a:gd name="adj" fmla="val 6000"/>
            </a:avLst>
          </a:prstGeom>
          <a:solidFill>
            <a:schemeClr val="accent1">
              <a:lumMod val="4000"/>
              <a:lumOff val="9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56816"/>
            <a:ext cx="4937759" cy="1572768"/>
          </a:xfrm>
          <a:prstGeom prst="rect">
            <a:avLst/>
          </a:prstGeom>
          <a:noFill/>
        </p:spPr>
        <p:txBody>
          <a:bodyPr wrap="none" anchor="t" lIns="22860" rIns="22860" tIns="22860" bIns="22860">
            <a:noAutofit/>
          </a:bodyPr>
          <a:lstStyle/>
          <a:p>
            <a:pPr algn="l">
              <a:lnSpc>
                <a:spcPts val="2645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chemeClr val="tx1"/>
                </a:solidFill>
                <a:latin typeface="Consolas"/>
              </a:defRPr>
            </a:pPr>
            <a:r>
              <a:t>first = ReadStock(item)</a:t>
            </a:r>
          </a:p>
          <a:p>
            <a:pPr algn="l">
              <a:lnSpc>
                <a:spcPts val="2645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chemeClr val="tx1"/>
                </a:solidFill>
                <a:latin typeface="Consolas"/>
              </a:defRPr>
            </a:pPr>
            <a:r>
              <a:t>...</a:t>
            </a:r>
          </a:p>
          <a:p>
            <a:pPr algn="l">
              <a:lnSpc>
                <a:spcPts val="264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chemeClr val="accent1"/>
                </a:solidFill>
                <a:latin typeface="Consolas"/>
              </a:defRPr>
            </a:pPr>
            <a:r>
              <a:t>second = first</a:t>
            </a:r>
          </a:p>
          <a:p>
            <a:pPr algn="l">
              <a:lnSpc>
                <a:spcPts val="2645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chemeClr val="tx1"/>
                </a:solidFill>
                <a:latin typeface="Consolas"/>
              </a:defRPr>
            </a:pPr>
            <a:r>
              <a:t>use(first, second)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4572000" cy="32004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800"/>
              </a:spcAft>
              <a:defRPr sz="1700" b="1">
                <a:solidFill>
                  <a:schemeClr val="tx1"/>
                </a:solidFill>
              </a:defRPr>
            </a:pPr>
            <a: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463040"/>
            <a:ext cx="4572000" cy="32004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800"/>
              </a:spcAft>
              <a:defRPr sz="1700" b="1">
                <a:solidFill>
                  <a:schemeClr val="tx1"/>
                </a:solidFill>
              </a:defRPr>
            </a:pPr>
            <a:r>
              <a:t>Proposed change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94360" y="3913632"/>
          <a:ext cx="10972800" cy="1508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621792">
                <a:tc>
                  <a:txBody>
                    <a:bodyPr/>
                    <a:lstStyle/>
                    <a:p>
                      <a:pPr>
                        <a:lnSpc>
                          <a:spcPts val="24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1">
                          <a:solidFill>
                            <a:schemeClr val="bg1"/>
                          </a:solidFill>
                        </a:defRPr>
                      </a:pPr>
                      <a:r>
                        <a:t>Live service</a:t>
                      </a:r>
                    </a:p>
                  </a:txBody>
                  <a:tcPr marL="164592" marR="164592" marT="91440" marB="9144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4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1">
                          <a:solidFill>
                            <a:schemeClr val="bg1"/>
                          </a:solidFill>
                        </a:defRPr>
                      </a:pPr>
                      <a:r>
                        <a:t>Fixed snapshot</a:t>
                      </a:r>
                    </a:p>
                  </a:txBody>
                  <a:tcPr marL="164592" marR="164592" marT="91440" marB="91440" anchor="ctr">
                    <a:solidFill>
                      <a:schemeClr val="accent1"/>
                    </a:solidFill>
                  </a:tcPr>
                </a:tc>
              </a:tr>
              <a:tr h="886967">
                <a:tc>
                  <a:txBody>
                    <a:bodyPr/>
                    <a:lstStyle/>
                    <a:p>
                      <a:pPr>
                        <a:lnSpc>
                          <a:spcPts val="24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>
                          <a:solidFill>
                            <a:schemeClr val="tx1"/>
                          </a:solidFill>
                        </a:defRPr>
                      </a:pPr>
                      <a:r>
                        <a:t>The second result may differ.</a:t>
                      </a:r>
                    </a:p>
                    <a:p>
                      <a:pPr>
                        <a:lnSpc>
                          <a:spcPts val="24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>
                          <a:solidFill>
                            <a:schemeClr val="tx1"/>
                          </a:solidFill>
                        </a:defRPr>
                      </a:pPr>
                      <a:r>
                        <a:t>The rewrite can change behaviour.</a:t>
                      </a:r>
                    </a:p>
                  </a:txBody>
                  <a:tcPr marL="164592" marR="164592" marT="91440" marB="91440" anchor="ctr">
                    <a:solidFill>
                      <a:schemeClr val="accent1">
                        <a:lumMod val="5000"/>
                        <a:lumOff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4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>
                          <a:solidFill>
                            <a:schemeClr val="tx1"/>
                          </a:solidFill>
                        </a:defRPr>
                      </a:pPr>
                      <a:r>
                        <a:t>Reuse may be justified—subject to the observable contract.</a:t>
                      </a:r>
                    </a:p>
                  </a:txBody>
                  <a:tcPr marL="164592" marR="164592" marT="91440" marB="91440" anchor="ctr">
                    <a:solidFill>
                      <a:schemeClr val="accent1">
                        <a:lumMod val="5000"/>
                        <a:lumOff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94360" y="5733288"/>
            <a:ext cx="10972800" cy="603504"/>
          </a:xfrm>
          <a:prstGeom prst="roundRect">
            <a:avLst>
              <a:gd name="adj" fmla="val 6000"/>
            </a:avLst>
          </a:prstGeom>
          <a:solidFill>
            <a:schemeClr val="accent1">
              <a:lumMod val="9000"/>
              <a:lumOff val="91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5824727"/>
            <a:ext cx="10561320" cy="420624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760"/>
              </a:lnSpc>
              <a:spcBef>
                <a:spcPts val="0"/>
              </a:spcBef>
              <a:spcAft>
                <a:spcPts val="800"/>
              </a:spcAft>
              <a:defRPr sz="2400" b="1">
                <a:solidFill>
                  <a:schemeClr val="tx1"/>
                </a:solidFill>
              </a:defRPr>
            </a:pPr>
            <a:r>
              <a:t>The operation name didn't tell us. The service contract did.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20040"/>
            <a:ext cx="10972800" cy="713232"/>
          </a:xfrm>
        </p:spPr>
        <p:txBody>
          <a:bodyPr wrap="square" anchor="t" lIns="0" rIns="0">
            <a:noAutofit/>
          </a:bodyPr>
          <a:lstStyle/>
          <a:p>
            <a:pPr>
              <a:lnSpc>
                <a:spcPts val="3719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chemeClr val="tx1"/>
                </a:solidFill>
              </a:defRPr>
            </a:pPr>
            <a:r>
              <a:t>Give the agent something worth preserving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800"/>
              </a:spcAft>
              <a:defRPr sz="1000" b="0">
                <a:solidFill>
                  <a:schemeClr val="tx1"/>
                </a:solidFill>
              </a:defRPr>
            </a:pPr>
            <a:r>
              <a:t>John Azariah  |  AI &amp; software craft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594360" cy="27432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800"/>
              </a:spcAft>
              <a:defRPr sz="1200" b="0">
                <a:solidFill>
                  <a:schemeClr val="tx1"/>
                </a:solidFill>
              </a:defRPr>
            </a:pPr>
            <a: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572768"/>
          <a:ext cx="10972800" cy="4059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9052560"/>
              </a:tblGrid>
              <a:tr h="621792">
                <a:tc>
                  <a:txBody>
                    <a:bodyPr/>
                    <a:lstStyle/>
                    <a:p>
                      <a:pPr>
                        <a:lnSpc>
                          <a:spcPts val="25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1">
                          <a:solidFill>
                            <a:schemeClr val="bg1"/>
                          </a:solidFill>
                        </a:defRPr>
                      </a:pPr>
                      <a:r>
                        <a:t>Work brief</a:t>
                      </a:r>
                    </a:p>
                  </a:txBody>
                  <a:tcPr marL="164592" marR="164592" marT="91440" marB="9144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5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1">
                          <a:solidFill>
                            <a:schemeClr val="bg1"/>
                          </a:solidFill>
                        </a:defRPr>
                      </a:pPr>
                      <a:r>
                        <a:t>Make the condition explicit</a:t>
                      </a:r>
                    </a:p>
                  </a:txBody>
                  <a:tcPr marL="164592" marR="164592" marT="91440" marB="91440" anchor="ctr">
                    <a:solidFill>
                      <a:schemeClr val="accent1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lnSpc>
                          <a:spcPts val="25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>
                          <a:solidFill>
                            <a:schemeClr val="tx1"/>
                          </a:solidFill>
                        </a:defRPr>
                      </a:pPr>
                      <a:r>
                        <a:t>Goal</a:t>
                      </a:r>
                    </a:p>
                  </a:txBody>
                  <a:tcPr marL="164592" marR="164592" marT="91440" marB="91440" anchor="ctr">
                    <a:solidFill>
                      <a:schemeClr val="accent1">
                        <a:lumMod val="5000"/>
                        <a:lumOff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5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>
                          <a:solidFill>
                            <a:schemeClr val="tx1"/>
                          </a:solidFill>
                        </a:defRPr>
                      </a:pPr>
                      <a:r>
                        <a:t>Reduce repeated stock lookups within one order evaluation.</a:t>
                      </a:r>
                    </a:p>
                  </a:txBody>
                  <a:tcPr marL="164592" marR="164592" marT="91440" marB="91440" anchor="ctr">
                    <a:solidFill>
                      <a:schemeClr val="accent1">
                        <a:lumMod val="5000"/>
                        <a:lumOff val="95000"/>
                      </a:schemeClr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lnSpc>
                          <a:spcPts val="25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>
                          <a:solidFill>
                            <a:schemeClr val="tx1"/>
                          </a:solidFill>
                        </a:defRPr>
                      </a:pPr>
                      <a:r>
                        <a:t>Boundary</a:t>
                      </a:r>
                    </a:p>
                  </a:txBody>
                  <a:tcPr marL="164592" marR="164592" marT="91440" marB="91440" anchor="ctr">
                    <a:solidFill>
                      <a:schemeClr val="accent1">
                        <a:lumMod val="5000"/>
                        <a:lumOff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5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>
                          <a:solidFill>
                            <a:schemeClr val="tx1"/>
                          </a:solidFill>
                        </a:defRPr>
                      </a:pPr>
                      <a:r>
                        <a:t>Reuse only inside one immutable snapshot. No payment-path changes.</a:t>
                      </a:r>
                    </a:p>
                  </a:txBody>
                  <a:tcPr marL="164592" marR="164592" marT="91440" marB="91440" anchor="ctr">
                    <a:solidFill>
                      <a:schemeClr val="accent1">
                        <a:lumMod val="5000"/>
                        <a:lumOff val="95000"/>
                      </a:schemeClr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lnSpc>
                          <a:spcPts val="25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>
                          <a:solidFill>
                            <a:schemeClr val="tx1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 marL="164592" marR="164592" marT="91440" marB="91440" anchor="ctr">
                    <a:solidFill>
                      <a:schemeClr val="accent1">
                        <a:lumMod val="5000"/>
                        <a:lumOff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5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>
                          <a:solidFill>
                            <a:schemeClr val="tx1"/>
                          </a:solidFill>
                        </a:defRPr>
                      </a:pPr>
                      <a:r>
                        <a:t>Live-read counterexample; same-snapshot reuse; cross-snapshot separation.</a:t>
                      </a:r>
                    </a:p>
                  </a:txBody>
                  <a:tcPr marL="164592" marR="164592" marT="91440" marB="91440" anchor="ctr">
                    <a:solidFill>
                      <a:schemeClr val="accent1">
                        <a:lumMod val="5000"/>
                        <a:lumOff val="95000"/>
                      </a:schemeClr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lnSpc>
                          <a:spcPts val="25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>
                          <a:solidFill>
                            <a:schemeClr val="tx1"/>
                          </a:solidFill>
                        </a:defRPr>
                      </a:pPr>
                      <a:r>
                        <a:t>Unknowns</a:t>
                      </a:r>
                    </a:p>
                  </a:txBody>
                  <a:tcPr marL="164592" marR="164592" marT="91440" marB="91440" anchor="ctr">
                    <a:solidFill>
                      <a:schemeClr val="accent1">
                        <a:lumMod val="5000"/>
                        <a:lumOff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5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>
                          <a:solidFill>
                            <a:schemeClr val="tx1"/>
                          </a:solidFill>
                        </a:defRPr>
                      </a:pPr>
                      <a:r>
                        <a:t>Identify any service guarantee the repository cannot establish.</a:t>
                      </a:r>
                    </a:p>
                  </a:txBody>
                  <a:tcPr marL="164592" marR="164592" marT="91440" marB="91440" anchor="ctr">
                    <a:solidFill>
                      <a:schemeClr val="accent1">
                        <a:lumMod val="5000"/>
                        <a:lumOff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94360" y="5733288"/>
            <a:ext cx="10972800" cy="603504"/>
          </a:xfrm>
          <a:prstGeom prst="roundRect">
            <a:avLst>
              <a:gd name="adj" fmla="val 6000"/>
            </a:avLst>
          </a:prstGeom>
          <a:solidFill>
            <a:schemeClr val="accent1">
              <a:lumMod val="9000"/>
              <a:lumOff val="91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5824727"/>
            <a:ext cx="10561320" cy="420624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645"/>
              </a:lnSpc>
              <a:spcBef>
                <a:spcPts val="0"/>
              </a:spcBef>
              <a:spcAft>
                <a:spcPts val="800"/>
              </a:spcAft>
              <a:defRPr sz="2300" b="1">
                <a:solidFill>
                  <a:schemeClr val="tx1"/>
                </a:solidFill>
              </a:defRPr>
            </a:pPr>
            <a:r>
              <a:t>Keep the important conditions in the system, not just the chat.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20040"/>
            <a:ext cx="10972800" cy="713232"/>
          </a:xfrm>
        </p:spPr>
        <p:txBody>
          <a:bodyPr wrap="square" anchor="t" lIns="0" rIns="0">
            <a:noAutofit/>
          </a:bodyPr>
          <a:lstStyle/>
          <a:p>
            <a:pPr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</a:defRPr>
            </a:pPr>
            <a:r>
              <a:t>Delegate according to consequence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800"/>
              </a:spcAft>
              <a:defRPr sz="1000" b="0">
                <a:solidFill>
                  <a:schemeClr val="tx1"/>
                </a:solidFill>
              </a:defRPr>
            </a:pPr>
            <a:r>
              <a:t>John Azariah  |  AI &amp; software craft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594360" cy="27432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800"/>
              </a:spcAft>
              <a:defRPr sz="1200" b="0">
                <a:solidFill>
                  <a:schemeClr val="tx1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800"/>
              </a:spcAft>
              <a:defRPr sz="1800" b="0">
                <a:solidFill>
                  <a:schemeClr val="accent1"/>
                </a:solidFill>
              </a:defRPr>
            </a:pPr>
            <a:r>
              <a:t>Vibe coding and structured workflows are modes—not rival identities.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5303520" cy="3182112"/>
          </a:xfrm>
          <a:prstGeom prst="roundRect">
            <a:avLst>
              <a:gd name="adj" fmla="val 6000"/>
            </a:avLst>
          </a:prstGeom>
          <a:solidFill>
            <a:schemeClr val="accent1">
              <a:lumMod val="7000"/>
              <a:lumOff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93391"/>
            <a:ext cx="4901183" cy="77724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645"/>
              </a:lnSpc>
              <a:spcBef>
                <a:spcPts val="0"/>
              </a:spcBef>
              <a:spcAft>
                <a:spcPts val="800"/>
              </a:spcAft>
              <a:defRPr sz="2300" b="1">
                <a:solidFill>
                  <a:schemeClr val="accent1"/>
                </a:solidFill>
              </a:defRPr>
            </a:pPr>
            <a:r>
              <a:t>Bounded exploration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779776"/>
            <a:ext cx="4901183" cy="2167128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916"/>
              </a:lnSpc>
              <a:spcBef>
                <a:spcPts val="0"/>
              </a:spcBef>
              <a:spcAft>
                <a:spcPts val="800"/>
              </a:spcAft>
              <a:defRPr sz="2700" b="0">
                <a:solidFill>
                  <a:schemeClr val="tx1"/>
                </a:solidFill>
              </a:defRPr>
            </a:pPr>
            <a:r>
              <a:t>Synthetic data</a:t>
            </a:r>
          </a:p>
          <a:p>
            <a:pPr algn="l">
              <a:lnSpc>
                <a:spcPts val="2916"/>
              </a:lnSpc>
              <a:spcBef>
                <a:spcPts val="0"/>
              </a:spcBef>
              <a:spcAft>
                <a:spcPts val="800"/>
              </a:spcAft>
              <a:defRPr sz="2700" b="0">
                <a:solidFill>
                  <a:schemeClr val="tx1"/>
                </a:solidFill>
              </a:defRPr>
            </a:pPr>
            <a:r>
              <a:t>No production connection</a:t>
            </a:r>
          </a:p>
          <a:p>
            <a:pPr algn="l">
              <a:lnSpc>
                <a:spcPts val="2916"/>
              </a:lnSpc>
              <a:spcBef>
                <a:spcPts val="0"/>
              </a:spcBef>
              <a:spcAft>
                <a:spcPts val="800"/>
              </a:spcAft>
              <a:defRPr sz="2700" b="0">
                <a:solidFill>
                  <a:schemeClr val="tx1"/>
                </a:solidFill>
              </a:defRPr>
            </a:pPr>
            <a:r>
              <a:t>Easy to discard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74519"/>
            <a:ext cx="5303520" cy="3182112"/>
          </a:xfrm>
          <a:prstGeom prst="roundRect">
            <a:avLst>
              <a:gd name="adj" fmla="val 6000"/>
            </a:avLst>
          </a:prstGeom>
          <a:solidFill>
            <a:schemeClr val="accent1">
              <a:lumMod val="7000"/>
              <a:lumOff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993391"/>
            <a:ext cx="4901183" cy="77724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645"/>
              </a:lnSpc>
              <a:spcBef>
                <a:spcPts val="0"/>
              </a:spcBef>
              <a:spcAft>
                <a:spcPts val="800"/>
              </a:spcAft>
              <a:defRPr sz="2300" b="1">
                <a:solidFill>
                  <a:schemeClr val="accent1"/>
                </a:solidFill>
              </a:defRPr>
            </a:pPr>
            <a:r>
              <a:t>Consequential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779776"/>
            <a:ext cx="4901183" cy="2167128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916"/>
              </a:lnSpc>
              <a:spcBef>
                <a:spcPts val="0"/>
              </a:spcBef>
              <a:spcAft>
                <a:spcPts val="800"/>
              </a:spcAft>
              <a:defRPr sz="2700" b="0">
                <a:solidFill>
                  <a:schemeClr val="tx1"/>
                </a:solidFill>
              </a:defRPr>
            </a:pPr>
            <a:r>
              <a:t>Explicit acceptance conditions</a:t>
            </a:r>
          </a:p>
          <a:p>
            <a:pPr algn="l">
              <a:lnSpc>
                <a:spcPts val="2916"/>
              </a:lnSpc>
              <a:spcBef>
                <a:spcPts val="0"/>
              </a:spcBef>
              <a:spcAft>
                <a:spcPts val="800"/>
              </a:spcAft>
              <a:defRPr sz="2700" b="0">
                <a:solidFill>
                  <a:schemeClr val="tx1"/>
                </a:solidFill>
              </a:defRPr>
            </a:pPr>
            <a:r>
              <a:t>Protected execution</a:t>
            </a:r>
          </a:p>
          <a:p>
            <a:pPr algn="l">
              <a:lnSpc>
                <a:spcPts val="2916"/>
              </a:lnSpc>
              <a:spcBef>
                <a:spcPts val="0"/>
              </a:spcBef>
              <a:spcAft>
                <a:spcPts val="800"/>
              </a:spcAft>
              <a:defRPr sz="2700" b="0">
                <a:solidFill>
                  <a:schemeClr val="tx1"/>
                </a:solidFill>
              </a:defRPr>
            </a:pPr>
            <a:r>
              <a:t>Review and recovery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175504"/>
            <a:ext cx="10652760" cy="393192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529"/>
              </a:lnSpc>
              <a:spcBef>
                <a:spcPts val="0"/>
              </a:spcBef>
              <a:spcAft>
                <a:spcPts val="800"/>
              </a:spcAft>
              <a:defRPr sz="2200" b="1">
                <a:solidFill>
                  <a:schemeClr val="tx1"/>
                </a:solidFill>
              </a:defRPr>
            </a:pPr>
            <a:r>
              <a:t>“Temporary” is not a risk classification.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5733288"/>
            <a:ext cx="10972800" cy="603504"/>
          </a:xfrm>
          <a:prstGeom prst="roundRect">
            <a:avLst>
              <a:gd name="adj" fmla="val 6000"/>
            </a:avLst>
          </a:prstGeom>
          <a:solidFill>
            <a:schemeClr val="accent1">
              <a:lumMod val="9000"/>
              <a:lumOff val="91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5824727"/>
            <a:ext cx="10561320" cy="420624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874"/>
              </a:lnSpc>
              <a:spcBef>
                <a:spcPts val="0"/>
              </a:spcBef>
              <a:spcAft>
                <a:spcPts val="800"/>
              </a:spcAft>
              <a:defRPr sz="2500" b="1">
                <a:solidFill>
                  <a:schemeClr val="tx1"/>
                </a:solidFill>
              </a:defRPr>
            </a:pPr>
            <a:r>
              <a:t>Choose autonomy by consequence and recoverability.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20040"/>
            <a:ext cx="10972800" cy="713232"/>
          </a:xfrm>
        </p:spPr>
        <p:txBody>
          <a:bodyPr wrap="square" anchor="t" lIns="0" rIns="0"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chemeClr val="tx1"/>
                </a:solidFill>
              </a:defRPr>
            </a:pPr>
            <a:r>
              <a:t>Keep learning where the mistakes are expensive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800"/>
              </a:spcAft>
              <a:defRPr sz="1000" b="0">
                <a:solidFill>
                  <a:schemeClr val="tx1"/>
                </a:solidFill>
              </a:defRPr>
            </a:pPr>
            <a:r>
              <a:t>John Azariah  |  AI &amp; software craft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594360" cy="27432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800"/>
              </a:spcAft>
              <a:defRPr sz="1200" b="0">
                <a:solidFill>
                  <a:schemeClr val="tx1"/>
                </a:solidFill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73352"/>
            <a:ext cx="5303520" cy="1828800"/>
          </a:xfrm>
          <a:prstGeom prst="roundRect">
            <a:avLst>
              <a:gd name="adj" fmla="val 6000"/>
            </a:avLst>
          </a:prstGeom>
          <a:solidFill>
            <a:schemeClr val="accent1">
              <a:lumMod val="7000"/>
              <a:lumOff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792224"/>
            <a:ext cx="4901183" cy="402336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415"/>
              </a:lnSpc>
              <a:spcBef>
                <a:spcPts val="0"/>
              </a:spcBef>
              <a:spcAft>
                <a:spcPts val="800"/>
              </a:spcAft>
              <a:defRPr sz="2100" b="1">
                <a:solidFill>
                  <a:schemeClr val="accent1"/>
                </a:solidFill>
              </a:defRPr>
            </a:pPr>
            <a:r>
              <a:t>Understand behaviour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368296"/>
            <a:ext cx="4901183" cy="1024128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484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chemeClr val="tx1"/>
                </a:solidFill>
              </a:defRPr>
            </a:pPr>
            <a:r>
              <a:t>Read unfamiliar code.</a:t>
            </a:r>
          </a:p>
          <a:p>
            <a:pPr algn="l">
              <a:lnSpc>
                <a:spcPts val="2484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chemeClr val="tx1"/>
                </a:solidFill>
              </a:defRPr>
            </a:pPr>
            <a:r>
              <a:t>Follow state and effects.</a:t>
            </a:r>
          </a:p>
          <a:p>
            <a:pPr algn="l">
              <a:lnSpc>
                <a:spcPts val="2484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chemeClr val="tx1"/>
                </a:solidFill>
              </a:defRPr>
            </a:pPr>
            <a:r>
              <a:t>Investigate failures.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73352"/>
            <a:ext cx="5303520" cy="1828800"/>
          </a:xfrm>
          <a:prstGeom prst="roundRect">
            <a:avLst>
              <a:gd name="adj" fmla="val 6000"/>
            </a:avLst>
          </a:prstGeom>
          <a:solidFill>
            <a:schemeClr val="accent1">
              <a:lumMod val="7000"/>
              <a:lumOff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7" y="1792224"/>
            <a:ext cx="4901183" cy="402336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415"/>
              </a:lnSpc>
              <a:spcBef>
                <a:spcPts val="0"/>
              </a:spcBef>
              <a:spcAft>
                <a:spcPts val="800"/>
              </a:spcAft>
              <a:defRPr sz="2100" b="1">
                <a:solidFill>
                  <a:schemeClr val="accent1"/>
                </a:solidFill>
              </a:defRPr>
            </a:pPr>
            <a:r>
              <a:t>Know what checks establish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2368296"/>
            <a:ext cx="4901183" cy="1024128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484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chemeClr val="tx1"/>
                </a:solidFill>
              </a:defRPr>
            </a:pPr>
            <a:r>
              <a:t>Predict before running.</a:t>
            </a:r>
          </a:p>
          <a:p>
            <a:pPr algn="l">
              <a:lnSpc>
                <a:spcPts val="2484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chemeClr val="tx1"/>
                </a:solidFill>
              </a:defRPr>
            </a:pPr>
            <a:r>
              <a:t>Seek counterexamples.</a:t>
            </a:r>
          </a:p>
          <a:p>
            <a:pPr algn="l">
              <a:lnSpc>
                <a:spcPts val="2484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chemeClr val="tx1"/>
                </a:solidFill>
              </a:defRPr>
            </a:pPr>
            <a:r>
              <a:t>Read past the explanation.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730752"/>
            <a:ext cx="5303520" cy="1783080"/>
          </a:xfrm>
          <a:prstGeom prst="roundRect">
            <a:avLst>
              <a:gd name="adj" fmla="val 6000"/>
            </a:avLst>
          </a:prstGeom>
          <a:solidFill>
            <a:schemeClr val="accent1">
              <a:lumMod val="7000"/>
              <a:lumOff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3849624"/>
            <a:ext cx="4901183" cy="402336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415"/>
              </a:lnSpc>
              <a:spcBef>
                <a:spcPts val="0"/>
              </a:spcBef>
              <a:spcAft>
                <a:spcPts val="800"/>
              </a:spcAft>
              <a:defRPr sz="2100" b="1">
                <a:solidFill>
                  <a:schemeClr val="accent1"/>
                </a:solidFill>
              </a:defRPr>
            </a:pPr>
            <a:r>
              <a:t>Learn the 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4425696"/>
            <a:ext cx="4901183" cy="978407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484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chemeClr val="tx1"/>
                </a:solidFill>
              </a:defRPr>
            </a:pPr>
            <a:r>
              <a:t>What is an accepted order?</a:t>
            </a:r>
          </a:p>
          <a:p>
            <a:pPr algn="l">
              <a:lnSpc>
                <a:spcPts val="2484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chemeClr val="tx1"/>
                </a:solidFill>
              </a:defRPr>
            </a:pPr>
            <a:r>
              <a:t>What does “cancel” mean?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30752"/>
            <a:ext cx="5303520" cy="1783080"/>
          </a:xfrm>
          <a:prstGeom prst="roundRect">
            <a:avLst>
              <a:gd name="adj" fmla="val 6000"/>
            </a:avLst>
          </a:prstGeom>
          <a:solidFill>
            <a:schemeClr val="accent1">
              <a:lumMod val="7000"/>
              <a:lumOff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3849624"/>
            <a:ext cx="4901183" cy="402336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415"/>
              </a:lnSpc>
              <a:spcBef>
                <a:spcPts val="0"/>
              </a:spcBef>
              <a:spcAft>
                <a:spcPts val="800"/>
              </a:spcAft>
              <a:defRPr sz="2100" b="1">
                <a:solidFill>
                  <a:schemeClr val="accent1"/>
                </a:solidFill>
              </a:defRPr>
            </a:pPr>
            <a:r>
              <a:t>Preserve the apprenticeship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4425696"/>
            <a:ext cx="4901183" cy="978407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484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chemeClr val="tx1"/>
                </a:solidFill>
              </a:defRPr>
            </a:pPr>
            <a:r>
              <a:t>Give bounded ownership.</a:t>
            </a:r>
          </a:p>
          <a:p>
            <a:pPr algn="l">
              <a:lnSpc>
                <a:spcPts val="2484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chemeClr val="tx1"/>
                </a:solidFill>
              </a:defRPr>
            </a:pPr>
            <a:r>
              <a:t>Keep the feedback from consequences.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733288"/>
            <a:ext cx="10972800" cy="603504"/>
          </a:xfrm>
          <a:prstGeom prst="roundRect">
            <a:avLst>
              <a:gd name="adj" fmla="val 6000"/>
            </a:avLst>
          </a:prstGeom>
          <a:solidFill>
            <a:schemeClr val="accent1">
              <a:lumMod val="9000"/>
              <a:lumOff val="91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5824727"/>
            <a:ext cx="10561320" cy="420624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529"/>
              </a:lnSpc>
              <a:spcBef>
                <a:spcPts val="0"/>
              </a:spcBef>
              <a:spcAft>
                <a:spcPts val="800"/>
              </a:spcAft>
              <a:defRPr sz="2200" b="1">
                <a:solidFill>
                  <a:schemeClr val="tx1"/>
                </a:solidFill>
              </a:defRPr>
            </a:pPr>
            <a:r>
              <a:t>What can I now recognise, express, or check that I couldn't before?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20040"/>
            <a:ext cx="10972800" cy="713232"/>
          </a:xfrm>
        </p:spPr>
        <p:txBody>
          <a:bodyPr wrap="square" anchor="t" lIns="0" rIns="0">
            <a:noAutofit/>
          </a:bodyPr>
          <a:lstStyle/>
          <a:p>
            <a:pPr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</a:defRPr>
            </a:pPr>
            <a:r>
              <a:t>What your experience buys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800"/>
              </a:spcAft>
              <a:defRPr sz="1000" b="0">
                <a:solidFill>
                  <a:schemeClr val="tx1"/>
                </a:solidFill>
              </a:defRPr>
            </a:pPr>
            <a:r>
              <a:t>John Azariah  |  AI &amp; software craft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594360" cy="27432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800"/>
              </a:spcAft>
              <a:defRPr sz="1200" b="0">
                <a:solidFill>
                  <a:schemeClr val="tx1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45920"/>
            <a:ext cx="10881360" cy="82296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4140"/>
              </a:lnSpc>
              <a:spcBef>
                <a:spcPts val="0"/>
              </a:spcBef>
              <a:spcAft>
                <a:spcPts val="800"/>
              </a:spcAft>
              <a:defRPr sz="3600" b="1">
                <a:solidFill>
                  <a:schemeClr val="tx1"/>
                </a:solidFill>
              </a:defRPr>
            </a:pPr>
            <a:r>
              <a:t>AI makes implementation cheaper.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97480"/>
            <a:ext cx="10881360" cy="146304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800"/>
              </a:spcAft>
              <a:defRPr sz="4000" b="1">
                <a:solidFill>
                  <a:schemeClr val="accent1"/>
                </a:solidFill>
              </a:defRPr>
            </a:pPr>
            <a:r>
              <a:t>Understanding changes</a:t>
            </a:r>
          </a:p>
          <a:p>
            <a:pPr algn="l">
              <a:lnSpc>
                <a:spcPts val="4600"/>
              </a:lnSpc>
              <a:spcBef>
                <a:spcPts val="0"/>
              </a:spcBef>
              <a:spcAft>
                <a:spcPts val="800"/>
              </a:spcAft>
              <a:defRPr sz="4000" b="1">
                <a:solidFill>
                  <a:schemeClr val="accent1"/>
                </a:solidFill>
              </a:defRPr>
            </a:pPr>
            <a:r>
              <a:t>what we can trust.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645152"/>
            <a:ext cx="10881360" cy="96012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3104"/>
              </a:lnSpc>
              <a:spcBef>
                <a:spcPts val="0"/>
              </a:spcBef>
              <a:spcAft>
                <a:spcPts val="800"/>
              </a:spcAft>
              <a:defRPr sz="2700" b="0">
                <a:solidFill>
                  <a:schemeClr val="tx1"/>
                </a:solidFill>
              </a:defRPr>
            </a:pPr>
            <a:r>
              <a:t>The code may arrive in seconds.</a:t>
            </a:r>
          </a:p>
          <a:p>
            <a:pPr algn="l">
              <a:lnSpc>
                <a:spcPts val="3104"/>
              </a:lnSpc>
              <a:spcBef>
                <a:spcPts val="0"/>
              </a:spcBef>
              <a:spcAft>
                <a:spcPts val="800"/>
              </a:spcAft>
              <a:defRPr sz="2700" b="0">
                <a:solidFill>
                  <a:schemeClr val="tx1"/>
                </a:solidFill>
              </a:defRPr>
            </a:pPr>
            <a:r>
              <a:t>Understanding still has to be earned.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20040"/>
            <a:ext cx="10972800" cy="713232"/>
          </a:xfrm>
        </p:spPr>
        <p:txBody>
          <a:bodyPr wrap="square" anchor="t" lIns="0" rIns="0">
            <a:noAutofit/>
          </a:bodyPr>
          <a:lstStyle/>
          <a:p>
            <a:pPr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</a:defRPr>
            </a:pPr>
            <a:r>
              <a:t>Is this just dependency injection?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800"/>
              </a:spcAft>
              <a:defRPr sz="1000" b="0">
                <a:solidFill>
                  <a:schemeClr val="tx1"/>
                </a:solidFill>
              </a:defRPr>
            </a:pPr>
            <a:r>
              <a:t>John Azariah  |  AI &amp; software craft  |  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594360" cy="27432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800"/>
              </a:spcAft>
              <a:defRPr sz="1200" b="0">
                <a:solidFill>
                  <a:schemeClr val="tx1"/>
                </a:solidFill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5303520" cy="2743200"/>
          </a:xfrm>
          <a:prstGeom prst="roundRect">
            <a:avLst>
              <a:gd name="adj" fmla="val 6000"/>
            </a:avLst>
          </a:prstGeom>
          <a:solidFill>
            <a:schemeClr val="accent1">
              <a:lumMod val="7000"/>
              <a:lumOff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856231"/>
            <a:ext cx="4901183" cy="77724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645"/>
              </a:lnSpc>
              <a:spcBef>
                <a:spcPts val="0"/>
              </a:spcBef>
              <a:spcAft>
                <a:spcPts val="800"/>
              </a:spcAft>
              <a:defRPr sz="2300" b="1">
                <a:solidFill>
                  <a:schemeClr val="accent1"/>
                </a:solidFill>
              </a:defRPr>
            </a:pPr>
            <a:r>
              <a:t>Familiar starting 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642615"/>
            <a:ext cx="4901183" cy="1728215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916"/>
              </a:lnSpc>
              <a:spcBef>
                <a:spcPts val="0"/>
              </a:spcBef>
              <a:spcAft>
                <a:spcPts val="800"/>
              </a:spcAft>
              <a:defRPr sz="2700" b="0">
                <a:solidFill>
                  <a:schemeClr val="tx1"/>
                </a:solidFill>
              </a:defRPr>
            </a:pPr>
            <a:r>
              <a:t>Abstract individual services.</a:t>
            </a:r>
          </a:p>
          <a:p>
            <a:pPr algn="l">
              <a:lnSpc>
                <a:spcPts val="2916"/>
              </a:lnSpc>
              <a:spcBef>
                <a:spcPts val="0"/>
              </a:spcBef>
              <a:spcAft>
                <a:spcPts val="800"/>
              </a:spcAft>
              <a:defRPr sz="2700" b="0">
                <a:solidFill>
                  <a:schemeClr val="tx1"/>
                </a:solidFill>
              </a:defRPr>
            </a:pPr>
            <a:r>
              <a:t>Substitute implementations.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37360"/>
            <a:ext cx="5303520" cy="2743200"/>
          </a:xfrm>
          <a:prstGeom prst="roundRect">
            <a:avLst>
              <a:gd name="adj" fmla="val 6000"/>
            </a:avLst>
          </a:prstGeom>
          <a:solidFill>
            <a:schemeClr val="accent1">
              <a:lumMod val="7000"/>
              <a:lumOff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7" y="1856231"/>
            <a:ext cx="4901183" cy="77724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645"/>
              </a:lnSpc>
              <a:spcBef>
                <a:spcPts val="0"/>
              </a:spcBef>
              <a:spcAft>
                <a:spcPts val="800"/>
              </a:spcAft>
              <a:defRPr sz="2300" b="1">
                <a:solidFill>
                  <a:schemeClr val="accent1"/>
                </a:solidFill>
              </a:defRPr>
            </a:pPr>
            <a:r>
              <a:t>Additional structure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2642615"/>
            <a:ext cx="4901183" cy="1728215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916"/>
              </a:lnSpc>
              <a:spcBef>
                <a:spcPts val="0"/>
              </a:spcBef>
              <a:spcAft>
                <a:spcPts val="800"/>
              </a:spcAft>
              <a:defRPr sz="2700" b="0">
                <a:solidFill>
                  <a:schemeClr val="tx1"/>
                </a:solidFill>
              </a:defRPr>
            </a:pPr>
            <a:r>
              <a:t>Abstract how computations compose.</a:t>
            </a:r>
          </a:p>
          <a:p>
            <a:pPr algn="l">
              <a:lnSpc>
                <a:spcPts val="2916"/>
              </a:lnSpc>
              <a:spcBef>
                <a:spcPts val="0"/>
              </a:spcBef>
              <a:spcAft>
                <a:spcPts val="800"/>
              </a:spcAft>
              <a:defRPr sz="2700" b="0">
                <a:solidFill>
                  <a:schemeClr val="tx1"/>
                </a:solidFill>
              </a:defRPr>
            </a:pPr>
            <a:r>
              <a:t>Vary the carrier and interpretation.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36592"/>
            <a:ext cx="10607040" cy="82296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3219"/>
              </a:lnSpc>
              <a:spcBef>
                <a:spcPts val="0"/>
              </a:spcBef>
              <a:spcAft>
                <a:spcPts val="800"/>
              </a:spcAft>
              <a:defRPr sz="2800" b="1">
                <a:solidFill>
                  <a:schemeClr val="tx1"/>
                </a:solidFill>
              </a:defRPr>
            </a:pPr>
            <a:r>
              <a:t>Use the extra abstraction only when its benefits earn its cost.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5733288"/>
            <a:ext cx="10972800" cy="603504"/>
          </a:xfrm>
          <a:prstGeom prst="roundRect">
            <a:avLst>
              <a:gd name="adj" fmla="val 6000"/>
            </a:avLst>
          </a:prstGeom>
          <a:solidFill>
            <a:schemeClr val="accent1">
              <a:lumMod val="9000"/>
              <a:lumOff val="91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5824727"/>
            <a:ext cx="10561320" cy="420624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874"/>
              </a:lnSpc>
              <a:spcBef>
                <a:spcPts val="0"/>
              </a:spcBef>
              <a:spcAft>
                <a:spcPts val="800"/>
              </a:spcAft>
              <a:defRPr sz="2500" b="1">
                <a:solidFill>
                  <a:schemeClr val="tx1"/>
                </a:solidFill>
              </a:defRPr>
            </a:pPr>
            <a:r>
              <a:t>Ordinary DI and pure functions may be enough.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20040"/>
            <a:ext cx="10972800" cy="713232"/>
          </a:xfrm>
        </p:spPr>
        <p:txBody>
          <a:bodyPr wrap="square" anchor="t" lIns="0" rIns="0"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chemeClr val="tx1"/>
                </a:solidFill>
              </a:defRPr>
            </a:pPr>
            <a:r>
              <a:t>What the round-trip does—and does not—say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800"/>
              </a:spcAft>
              <a:defRPr sz="1000" b="0">
                <a:solidFill>
                  <a:schemeClr val="tx1"/>
                </a:solidFill>
              </a:defRPr>
            </a:pPr>
            <a:r>
              <a:t>John Azariah  |  AI &amp; software craft  |  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594360" cy="27432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800"/>
              </a:spcAft>
              <a:defRPr sz="1200" b="0">
                <a:solidFill>
                  <a:schemeClr val="tx1"/>
                </a:solidFill>
              </a:defRPr>
            </a:pPr>
            <a:r>
              <a:t>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847088"/>
          <a:ext cx="109728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21792">
                <a:tc>
                  <a:txBody>
                    <a:bodyPr/>
                    <a:lstStyle/>
                    <a:p>
                      <a:pPr>
                        <a:lnSpc>
                          <a:spcPts val="27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1">
                          <a:solidFill>
                            <a:schemeClr val="bg1"/>
                          </a:solidFill>
                        </a:defRPr>
                      </a:pPr>
                      <a:r>
                        <a:t>Required</a:t>
                      </a:r>
                    </a:p>
                  </a:txBody>
                  <a:tcPr marL="164592" marR="164592" marT="91440" marB="9144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7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1">
                          <a:solidFill>
                            <a:schemeClr val="bg1"/>
                          </a:solidFill>
                        </a:defRPr>
                      </a:pPr>
                      <a:r>
                        <a:t>Established</a:t>
                      </a:r>
                    </a:p>
                  </a:txBody>
                  <a:tcPr marL="164592" marR="164592" marT="91440" marB="9144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7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1">
                          <a:solidFill>
                            <a:schemeClr val="bg1"/>
                          </a:solidFill>
                        </a:defRPr>
                      </a:pPr>
                      <a:r>
                        <a:t>Not established</a:t>
                      </a:r>
                    </a:p>
                  </a:txBody>
                  <a:tcPr marL="164592" marR="164592" marT="91440" marB="91440" anchor="ctr">
                    <a:solidFill>
                      <a:schemeClr val="accent1"/>
                    </a:solidFill>
                  </a:tcPr>
                </a:tc>
              </a:tr>
              <a:tr h="2441448">
                <a:tc>
                  <a:txBody>
                    <a:bodyPr/>
                    <a:lstStyle/>
                    <a:p>
                      <a:pPr>
                        <a:lnSpc>
                          <a:spcPts val="27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>
                          <a:solidFill>
                            <a:schemeClr val="tx1"/>
                          </a:solidFill>
                        </a:defRPr>
                      </a:pPr>
                      <a:r>
                        <a:t>A specified language and models.</a:t>
                      </a:r>
                    </a:p>
                    <a:p>
                      <a:pPr>
                        <a:lnSpc>
                          <a:spcPts val="27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>
                          <a:solidFill>
                            <a:schemeClr val="tx1"/>
                          </a:solidFill>
                        </a:defRPr>
                      </a:pPr>
                      <a:r>
                        <a:t>Uniformity across interpretations.</a:t>
                      </a:r>
                    </a:p>
                  </a:txBody>
                  <a:tcPr marL="164592" marR="164592" marT="91440" marB="91440" anchor="ctr">
                    <a:solidFill>
                      <a:schemeClr val="accent1">
                        <a:lumMod val="5000"/>
                        <a:lumOff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7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>
                          <a:solidFill>
                            <a:schemeClr val="tx1"/>
                          </a:solidFill>
                        </a:defRPr>
                      </a:pPr>
                      <a:r>
                        <a:t>The representation relationship.</a:t>
                      </a:r>
                    </a:p>
                    <a:p>
                      <a:pPr>
                        <a:lnSpc>
                          <a:spcPts val="27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>
                          <a:solidFill>
                            <a:schemeClr val="tx1"/>
                          </a:solidFill>
                        </a:defRPr>
                      </a:pPr>
                      <a:r>
                        <a:t>Recovery up to the stated equality.</a:t>
                      </a:r>
                    </a:p>
                  </a:txBody>
                  <a:tcPr marL="164592" marR="164592" marT="91440" marB="91440" anchor="ctr">
                    <a:solidFill>
                      <a:schemeClr val="accent1">
                        <a:lumMod val="5000"/>
                        <a:lumOff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7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>
                          <a:solidFill>
                            <a:schemeClr val="tx1"/>
                          </a:solidFill>
                        </a:defRPr>
                      </a:pPr>
                      <a:r>
                        <a:t>Business correctness.</a:t>
                      </a:r>
                    </a:p>
                    <a:p>
                      <a:pPr>
                        <a:lnSpc>
                          <a:spcPts val="27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>
                          <a:solidFill>
                            <a:schemeClr val="tx1"/>
                          </a:solidFill>
                        </a:defRPr>
                      </a:pPr>
                      <a:r>
                        <a:t>Arbitrary rewrite safety.</a:t>
                      </a:r>
                    </a:p>
                    <a:p>
                      <a:pPr>
                        <a:lnSpc>
                          <a:spcPts val="27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>
                          <a:solidFill>
                            <a:schemeClr val="tx1"/>
                          </a:solidFill>
                        </a:defRPr>
                      </a:pPr>
                      <a:r>
                        <a:t>Every future path.</a:t>
                      </a:r>
                    </a:p>
                  </a:txBody>
                  <a:tcPr marL="164592" marR="164592" marT="91440" marB="91440" anchor="ctr">
                    <a:solidFill>
                      <a:schemeClr val="accent1">
                        <a:lumMod val="5000"/>
                        <a:lumOff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94360" y="5733288"/>
            <a:ext cx="10972800" cy="603504"/>
          </a:xfrm>
          <a:prstGeom prst="roundRect">
            <a:avLst>
              <a:gd name="adj" fmla="val 6000"/>
            </a:avLst>
          </a:prstGeom>
          <a:solidFill>
            <a:schemeClr val="accent1">
              <a:lumMod val="9000"/>
              <a:lumOff val="91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5824727"/>
            <a:ext cx="10561320" cy="420624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760"/>
              </a:lnSpc>
              <a:spcBef>
                <a:spcPts val="0"/>
              </a:spcBef>
              <a:spcAft>
                <a:spcPts val="800"/>
              </a:spcAft>
              <a:defRPr sz="2400" b="1">
                <a:solidFill>
                  <a:schemeClr val="tx1"/>
                </a:solidFill>
              </a:defRPr>
            </a:pPr>
            <a:r>
              <a:t>A host-language generic type is not the whole proof.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20040"/>
            <a:ext cx="10972800" cy="713232"/>
          </a:xfrm>
        </p:spPr>
        <p:txBody>
          <a:bodyPr wrap="square" anchor="t" lIns="0" rIns="0">
            <a:noAutofit/>
          </a:bodyPr>
          <a:lstStyle/>
          <a:p>
            <a:pPr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</a:defRPr>
            </a:pPr>
            <a:r>
              <a:t>When generation outruns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800"/>
              </a:spcAft>
              <a:defRPr sz="1000" b="0">
                <a:solidFill>
                  <a:schemeClr val="tx1"/>
                </a:solidFill>
              </a:defRPr>
            </a:pPr>
            <a:r>
              <a:t>John Azariah  |  AI &amp; software craft  |  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594360" cy="27432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800"/>
              </a:spcAft>
              <a:defRPr sz="1200" b="0">
                <a:solidFill>
                  <a:schemeClr val="tx1"/>
                </a:solidFill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5303520" cy="3154680"/>
          </a:xfrm>
          <a:prstGeom prst="roundRect">
            <a:avLst>
              <a:gd name="adj" fmla="val 6000"/>
            </a:avLst>
          </a:prstGeom>
          <a:solidFill>
            <a:schemeClr val="accent1">
              <a:lumMod val="7000"/>
              <a:lumOff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856231"/>
            <a:ext cx="4901183" cy="77724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645"/>
              </a:lnSpc>
              <a:spcBef>
                <a:spcPts val="0"/>
              </a:spcBef>
              <a:spcAft>
                <a:spcPts val="800"/>
              </a:spcAft>
              <a:defRPr sz="2300" b="1">
                <a:solidFill>
                  <a:schemeClr val="accent1"/>
                </a:solidFill>
              </a:defRPr>
            </a:pPr>
            <a:r>
              <a:t>Make the change smaller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642615"/>
            <a:ext cx="4901183" cy="2139696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916"/>
              </a:lnSpc>
              <a:spcBef>
                <a:spcPts val="0"/>
              </a:spcBef>
              <a:spcAft>
                <a:spcPts val="800"/>
              </a:spcAft>
              <a:defRPr sz="2700" b="0">
                <a:solidFill>
                  <a:schemeClr val="tx1"/>
                </a:solidFill>
              </a:defRPr>
            </a:pPr>
            <a:r>
              <a:t>Bound the task.</a:t>
            </a:r>
          </a:p>
          <a:p>
            <a:pPr algn="l">
              <a:lnSpc>
                <a:spcPts val="2916"/>
              </a:lnSpc>
              <a:spcBef>
                <a:spcPts val="0"/>
              </a:spcBef>
              <a:spcAft>
                <a:spcPts val="800"/>
              </a:spcAft>
              <a:defRPr sz="2700" b="0">
                <a:solidFill>
                  <a:schemeClr val="tx1"/>
                </a:solidFill>
              </a:defRPr>
            </a:pPr>
            <a:r>
              <a:t>Keep interfaces explicit.</a:t>
            </a:r>
          </a:p>
          <a:p>
            <a:pPr algn="l">
              <a:lnSpc>
                <a:spcPts val="2916"/>
              </a:lnSpc>
              <a:spcBef>
                <a:spcPts val="0"/>
              </a:spcBef>
              <a:spcAft>
                <a:spcPts val="800"/>
              </a:spcAft>
              <a:defRPr sz="2700" b="0">
                <a:solidFill>
                  <a:schemeClr val="tx1"/>
                </a:solidFill>
              </a:defRPr>
            </a:pPr>
            <a:r>
              <a:t>Avoid an unreviewable code dump.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37360"/>
            <a:ext cx="5303520" cy="3154680"/>
          </a:xfrm>
          <a:prstGeom prst="roundRect">
            <a:avLst>
              <a:gd name="adj" fmla="val 6000"/>
            </a:avLst>
          </a:prstGeom>
          <a:solidFill>
            <a:schemeClr val="accent1">
              <a:lumMod val="7000"/>
              <a:lumOff val="9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7" y="1856231"/>
            <a:ext cx="4901183" cy="77724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645"/>
              </a:lnSpc>
              <a:spcBef>
                <a:spcPts val="0"/>
              </a:spcBef>
              <a:spcAft>
                <a:spcPts val="800"/>
              </a:spcAft>
              <a:defRPr sz="2300" b="1">
                <a:solidFill>
                  <a:schemeClr val="accent1"/>
                </a:solidFill>
              </a:defRPr>
            </a:pPr>
            <a:r>
              <a:t>Make the evidence better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2642615"/>
            <a:ext cx="4901183" cy="2139696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916"/>
              </a:lnSpc>
              <a:spcBef>
                <a:spcPts val="0"/>
              </a:spcBef>
              <a:spcAft>
                <a:spcPts val="800"/>
              </a:spcAft>
              <a:defRPr sz="2700" b="0">
                <a:solidFill>
                  <a:schemeClr val="tx1"/>
                </a:solidFill>
              </a:defRPr>
            </a:pPr>
            <a:r>
              <a:t>Automate suitable checks.</a:t>
            </a:r>
          </a:p>
          <a:p>
            <a:pPr algn="l">
              <a:lnSpc>
                <a:spcPts val="2916"/>
              </a:lnSpc>
              <a:spcBef>
                <a:spcPts val="0"/>
              </a:spcBef>
              <a:spcAft>
                <a:spcPts val="800"/>
              </a:spcAft>
              <a:defRPr sz="2700" b="0">
                <a:solidFill>
                  <a:schemeClr val="tx1"/>
                </a:solidFill>
              </a:defRPr>
            </a:pPr>
            <a:r>
              <a:t>Examine consequential assumptions.</a:t>
            </a:r>
          </a:p>
          <a:p>
            <a:pPr algn="l">
              <a:lnSpc>
                <a:spcPts val="2916"/>
              </a:lnSpc>
              <a:spcBef>
                <a:spcPts val="0"/>
              </a:spcBef>
              <a:spcAft>
                <a:spcPts val="800"/>
              </a:spcAft>
              <a:defRPr sz="2700" b="0">
                <a:solidFill>
                  <a:schemeClr val="tx1"/>
                </a:solidFill>
              </a:defRPr>
            </a:pPr>
            <a:r>
              <a:t>Use independent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733288"/>
            <a:ext cx="10972800" cy="603504"/>
          </a:xfrm>
          <a:prstGeom prst="roundRect">
            <a:avLst>
              <a:gd name="adj" fmla="val 6000"/>
            </a:avLst>
          </a:prstGeom>
          <a:solidFill>
            <a:schemeClr val="accent1">
              <a:lumMod val="9000"/>
              <a:lumOff val="91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5824727"/>
            <a:ext cx="10561320" cy="420624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645"/>
              </a:lnSpc>
              <a:spcBef>
                <a:spcPts val="0"/>
              </a:spcBef>
              <a:spcAft>
                <a:spcPts val="800"/>
              </a:spcAft>
              <a:defRPr sz="2300" b="1">
                <a:solidFill>
                  <a:schemeClr val="tx1"/>
                </a:solidFill>
              </a:defRPr>
            </a:pPr>
            <a:r>
              <a:t>Generating less at once is a legitimate engineering response.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20040"/>
            <a:ext cx="10972800" cy="713232"/>
          </a:xfrm>
        </p:spPr>
        <p:txBody>
          <a:bodyPr wrap="square" anchor="t" lIns="0" rIns="0">
            <a:noAutofit/>
          </a:bodyPr>
          <a:lstStyle/>
          <a:p>
            <a:pPr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</a:defRPr>
            </a:pPr>
            <a:r>
              <a:t>Help colleagues develop judgement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800"/>
              </a:spcAft>
              <a:defRPr sz="1000" b="0">
                <a:solidFill>
                  <a:schemeClr val="tx1"/>
                </a:solidFill>
              </a:defRPr>
            </a:pPr>
            <a:r>
              <a:t>John Azariah  |  AI &amp; software craft  |  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594360" cy="27432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800"/>
              </a:spcAft>
              <a:defRPr sz="1200" b="0">
                <a:solidFill>
                  <a:schemeClr val="tx1"/>
                </a:solidFill>
              </a:defRPr>
            </a:pPr>
            <a:r>
              <a:t>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45920"/>
          <a:ext cx="10972800" cy="3986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772400"/>
              </a:tblGrid>
              <a:tr h="621792">
                <a:tc>
                  <a:txBody>
                    <a:bodyPr/>
                    <a:lstStyle/>
                    <a:p>
                      <a:pPr>
                        <a:lnSpc>
                          <a:spcPts val="25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1">
                          <a:solidFill>
                            <a:schemeClr val="bg1"/>
                          </a:solidFill>
                        </a:defRPr>
                      </a:pPr>
                      <a:r>
                        <a:t>Learning move</a:t>
                      </a:r>
                    </a:p>
                  </a:txBody>
                  <a:tcPr marL="164592" marR="164592" marT="91440" marB="9144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5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1">
                          <a:solidFill>
                            <a:schemeClr val="bg1"/>
                          </a:solidFill>
                        </a:defRPr>
                      </a:pPr>
                      <a:r>
                        <a:t>Use AI without losing the feedback</a:t>
                      </a:r>
                    </a:p>
                  </a:txBody>
                  <a:tcPr marL="164592" marR="164592" marT="91440" marB="91440" anchor="ctr">
                    <a:solidFill>
                      <a:schemeClr val="accent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lnSpc>
                          <a:spcPts val="25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>
                          <a:solidFill>
                            <a:schemeClr val="tx1"/>
                          </a:solidFill>
                        </a:defRPr>
                      </a:pPr>
                      <a:r>
                        <a:t>Predict</a:t>
                      </a:r>
                    </a:p>
                  </a:txBody>
                  <a:tcPr marL="164592" marR="164592" marT="91440" marB="91440" anchor="ctr">
                    <a:solidFill>
                      <a:schemeClr val="accent1">
                        <a:lumMod val="5000"/>
                        <a:lumOff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5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>
                          <a:solidFill>
                            <a:schemeClr val="tx1"/>
                          </a:solidFill>
                        </a:defRPr>
                      </a:pPr>
                      <a:r>
                        <a:t>State what the code will do before running it.</a:t>
                      </a:r>
                    </a:p>
                  </a:txBody>
                  <a:tcPr marL="164592" marR="164592" marT="91440" marB="91440" anchor="ctr">
                    <a:solidFill>
                      <a:schemeClr val="accent1">
                        <a:lumMod val="5000"/>
                        <a:lumOff val="95000"/>
                      </a:schemeClr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lnSpc>
                          <a:spcPts val="25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>
                          <a:solidFill>
                            <a:schemeClr val="tx1"/>
                          </a:solidFill>
                        </a:defRPr>
                      </a:pPr>
                      <a:r>
                        <a:t>Investigate</a:t>
                      </a:r>
                    </a:p>
                  </a:txBody>
                  <a:tcPr marL="164592" marR="164592" marT="91440" marB="91440" anchor="ctr">
                    <a:solidFill>
                      <a:schemeClr val="accent1">
                        <a:lumMod val="5000"/>
                        <a:lumOff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5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>
                          <a:solidFill>
                            <a:schemeClr val="tx1"/>
                          </a:solidFill>
                        </a:defRPr>
                      </a:pPr>
                      <a:r>
                        <a:t>Trace the failure before accepting the patch.</a:t>
                      </a:r>
                    </a:p>
                  </a:txBody>
                  <a:tcPr marL="164592" marR="164592" marT="91440" marB="91440" anchor="ctr">
                    <a:solidFill>
                      <a:schemeClr val="accent1">
                        <a:lumMod val="5000"/>
                        <a:lumOff val="95000"/>
                      </a:schemeClr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lnSpc>
                          <a:spcPts val="25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>
                          <a:solidFill>
                            <a:schemeClr val="tx1"/>
                          </a:solidFill>
                        </a:defRPr>
                      </a:pPr>
                      <a:r>
                        <a:t>Compare</a:t>
                      </a:r>
                    </a:p>
                  </a:txBody>
                  <a:tcPr marL="164592" marR="164592" marT="91440" marB="91440" anchor="ctr">
                    <a:solidFill>
                      <a:schemeClr val="accent1">
                        <a:lumMod val="5000"/>
                        <a:lumOff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5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>
                          <a:solidFill>
                            <a:schemeClr val="tx1"/>
                          </a:solidFill>
                        </a:defRPr>
                      </a:pPr>
                      <a:r>
                        <a:t>Ask for alternatives and examine their assumptions.</a:t>
                      </a:r>
                    </a:p>
                  </a:txBody>
                  <a:tcPr marL="164592" marR="164592" marT="91440" marB="91440" anchor="ctr">
                    <a:solidFill>
                      <a:schemeClr val="accent1">
                        <a:lumMod val="5000"/>
                        <a:lumOff val="95000"/>
                      </a:schemeClr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lnSpc>
                          <a:spcPts val="25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>
                          <a:solidFill>
                            <a:schemeClr val="tx1"/>
                          </a:solidFill>
                        </a:defRPr>
                      </a:pPr>
                      <a:r>
                        <a:t>Own a bounded change</a:t>
                      </a:r>
                    </a:p>
                  </a:txBody>
                  <a:tcPr marL="164592" marR="164592" marT="91440" marB="91440" anchor="ctr">
                    <a:solidFill>
                      <a:schemeClr val="accent1">
                        <a:lumMod val="5000"/>
                        <a:lumOff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5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>
                          <a:solidFill>
                            <a:schemeClr val="tx1"/>
                          </a:solidFill>
                        </a:defRPr>
                      </a:pPr>
                      <a:r>
                        <a:t>Implement, observe consequences, and receive review.</a:t>
                      </a:r>
                    </a:p>
                  </a:txBody>
                  <a:tcPr marL="164592" marR="164592" marT="91440" marB="91440" anchor="ctr">
                    <a:solidFill>
                      <a:schemeClr val="accent1">
                        <a:lumMod val="5000"/>
                        <a:lumOff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94360" y="5733288"/>
            <a:ext cx="10972800" cy="603504"/>
          </a:xfrm>
          <a:prstGeom prst="roundRect">
            <a:avLst>
              <a:gd name="adj" fmla="val 6000"/>
            </a:avLst>
          </a:prstGeom>
          <a:solidFill>
            <a:schemeClr val="accent1">
              <a:lumMod val="9000"/>
              <a:lumOff val="91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5824727"/>
            <a:ext cx="10561320" cy="420624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760"/>
              </a:lnSpc>
              <a:spcBef>
                <a:spcPts val="0"/>
              </a:spcBef>
              <a:spcAft>
                <a:spcPts val="800"/>
              </a:spcAft>
              <a:defRPr sz="2400" b="1">
                <a:solidFill>
                  <a:schemeClr val="tx1"/>
                </a:solidFill>
              </a:defRPr>
            </a:pPr>
            <a:r>
              <a:t>Don't replace an apprenticeship with an approval queue.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20040"/>
            <a:ext cx="10972800" cy="713232"/>
          </a:xfrm>
        </p:spPr>
        <p:txBody>
          <a:bodyPr wrap="square" anchor="t" lIns="0" rIns="0">
            <a:noAutofit/>
          </a:bodyPr>
          <a:lstStyle/>
          <a:p>
            <a:pPr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tx1"/>
                </a:solidFill>
              </a:defRPr>
            </a:pPr>
            <a:r>
              <a:t>Further 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800"/>
              </a:spcAft>
              <a:defRPr sz="1000" b="0">
                <a:solidFill>
                  <a:schemeClr val="tx1"/>
                </a:solidFill>
              </a:defRPr>
            </a:pPr>
            <a:r>
              <a:t>John Azariah  |  AI &amp; software craft  |  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594360" cy="27432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800"/>
              </a:spcAft>
              <a:defRPr sz="1200" b="0">
                <a:solidFill>
                  <a:schemeClr val="tx1"/>
                </a:solidFill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789920" cy="45720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3104"/>
              </a:lnSpc>
              <a:spcBef>
                <a:spcPts val="0"/>
              </a:spcBef>
              <a:spcAft>
                <a:spcPts val="800"/>
              </a:spcAft>
              <a:defRPr sz="2700" b="1">
                <a:solidFill>
                  <a:schemeClr val="accent1"/>
                </a:solidFill>
              </a:defRPr>
            </a:pPr>
            <a:r>
              <a:rPr>
                <a:hlinkClick r:id="rId3"/>
              </a:rPr>
              <a:t>Froggy Tree 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12264"/>
            <a:ext cx="10789920" cy="420624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529"/>
              </a:lnSpc>
              <a:spcBef>
                <a:spcPts val="0"/>
              </a:spcBef>
              <a:spcAft>
                <a:spcPts val="800"/>
              </a:spcAft>
              <a:defRPr sz="2200" b="0">
                <a:solidFill>
                  <a:schemeClr val="tx1"/>
                </a:solidFill>
              </a:defRPr>
            </a:pPr>
            <a:r>
              <a:t>The small program that introduces interpretation.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10789920" cy="45720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3104"/>
              </a:lnSpc>
              <a:spcBef>
                <a:spcPts val="0"/>
              </a:spcBef>
              <a:spcAft>
                <a:spcPts val="800"/>
              </a:spcAft>
              <a:defRPr sz="2700" b="1">
                <a:solidFill>
                  <a:schemeClr val="accent1"/>
                </a:solidFill>
              </a:defRPr>
            </a:pPr>
            <a:r>
              <a:rPr>
                <a:hlinkClick r:id="rId4"/>
              </a:rPr>
              <a:t>The Algebra of 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00984"/>
            <a:ext cx="10789920" cy="420624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529"/>
              </a:lnSpc>
              <a:spcBef>
                <a:spcPts val="0"/>
              </a:spcBef>
              <a:spcAft>
                <a:spcPts val="800"/>
              </a:spcAft>
              <a:defRPr sz="2200" b="0">
                <a:solidFill>
                  <a:schemeClr val="tx1"/>
                </a:solidFill>
              </a:defRPr>
            </a:pPr>
            <a:r>
              <a:t>The original C# architectural example.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10789920" cy="457200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3104"/>
              </a:lnSpc>
              <a:spcBef>
                <a:spcPts val="0"/>
              </a:spcBef>
              <a:spcAft>
                <a:spcPts val="800"/>
              </a:spcAft>
              <a:defRPr sz="2700" b="1">
                <a:solidFill>
                  <a:schemeClr val="accent1"/>
                </a:solidFill>
              </a:defRPr>
            </a:pPr>
            <a:r>
              <a:rPr>
                <a:hlinkClick r:id="rId5"/>
              </a:rPr>
              <a:t>What Mitchell Wand Taught Me About Intent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9704"/>
            <a:ext cx="10789920" cy="420624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529"/>
              </a:lnSpc>
              <a:spcBef>
                <a:spcPts val="0"/>
              </a:spcBef>
              <a:spcAft>
                <a:spcPts val="800"/>
              </a:spcAft>
              <a:defRPr sz="2200" b="0">
                <a:solidFill>
                  <a:schemeClr val="tx1"/>
                </a:solidFill>
              </a:defRPr>
            </a:pPr>
            <a:r>
              <a:t>A public account of the early corrections.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733288"/>
            <a:ext cx="10972800" cy="603504"/>
          </a:xfrm>
          <a:prstGeom prst="roundRect">
            <a:avLst>
              <a:gd name="adj" fmla="val 6000"/>
            </a:avLst>
          </a:prstGeom>
          <a:solidFill>
            <a:schemeClr val="accent1">
              <a:lumMod val="9000"/>
              <a:lumOff val="91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5824727"/>
            <a:ext cx="10561320" cy="420624"/>
          </a:xfrm>
          <a:prstGeom prst="rect">
            <a:avLst/>
          </a:prstGeom>
          <a:noFill/>
        </p:spPr>
        <p:txBody>
          <a:bodyPr wrap="square" anchor="t" lIns="22860" rIns="22860" tIns="22860" bIns="22860">
            <a:noAutofit/>
          </a:bodyPr>
          <a:lstStyle/>
          <a:p>
            <a:pPr algn="l">
              <a:lnSpc>
                <a:spcPts val="2529"/>
              </a:lnSpc>
              <a:spcBef>
                <a:spcPts val="0"/>
              </a:spcBef>
              <a:spcAft>
                <a:spcPts val="800"/>
              </a:spcAft>
              <a:defRPr sz="2200" b="1">
                <a:solidFill>
                  <a:schemeClr val="tx1"/>
                </a:solidFill>
              </a:defRPr>
            </a:pPr>
            <a:r>
              <a:t>Background reading; some earlier claims were subsequently narrowed.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Learning to Code Properly Still Matters in the Age of AI</dc:title>
  <dc:subject>The value of engineering skill and experience with AI</dc:subject>
  <dc:creator>John Azariah</dc:creator>
  <cp:keywords>AI, software engineering, craft, intent, interpretation</cp:keywords>
  <dc:description>Editable speaker deck. 13 main slides and 5 appendix slides. Timings are rehearsal targets, not measured delivery times.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